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5"/>
  </p:notesMasterIdLst>
  <p:handoutMasterIdLst>
    <p:handoutMasterId r:id="rId26"/>
  </p:handoutMasterIdLst>
  <p:sldIdLst>
    <p:sldId id="256" r:id="rId5"/>
    <p:sldId id="277" r:id="rId6"/>
    <p:sldId id="261" r:id="rId7"/>
    <p:sldId id="262" r:id="rId8"/>
    <p:sldId id="289" r:id="rId9"/>
    <p:sldId id="264" r:id="rId10"/>
    <p:sldId id="258" r:id="rId11"/>
    <p:sldId id="278" r:id="rId12"/>
    <p:sldId id="266" r:id="rId13"/>
    <p:sldId id="292" r:id="rId14"/>
    <p:sldId id="268" r:id="rId15"/>
    <p:sldId id="280" r:id="rId16"/>
    <p:sldId id="270" r:id="rId17"/>
    <p:sldId id="293" r:id="rId18"/>
    <p:sldId id="294" r:id="rId19"/>
    <p:sldId id="260" r:id="rId20"/>
    <p:sldId id="282" r:id="rId21"/>
    <p:sldId id="283"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p:scale>
          <a:sx n="100" d="100"/>
          <a:sy n="100" d="100"/>
        </p:scale>
        <p:origin x="-53" y="-53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7/15/2026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701"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7.xml"/><Relationship Id="rId5" Type="http://schemas.openxmlformats.org/officeDocument/2006/relationships/image" Target="../media/image17.jpeg"/><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19.jpg"/><Relationship Id="rId7" Type="http://schemas.openxmlformats.org/officeDocument/2006/relationships/image" Target="../media/image23.jpg"/><Relationship Id="rId2" Type="http://schemas.openxmlformats.org/officeDocument/2006/relationships/image" Target="../media/image18.jpg"/><Relationship Id="rId1" Type="http://schemas.openxmlformats.org/officeDocument/2006/relationships/slideLayout" Target="../slideLayouts/slideLayout18.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 Id="rId9" Type="http://schemas.openxmlformats.org/officeDocument/2006/relationships/image" Target="../media/image2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a:lstStyle/>
          <a:p>
            <a:r>
              <a:rPr lang="en-US" dirty="0"/>
              <a:t>Pitch deck</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a:lstStyle/>
          <a:p>
            <a:r>
              <a:rPr lang="en-US" dirty="0"/>
              <a:t>Mirjam Nilsson</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a:lstStyle/>
          <a:p>
            <a:r>
              <a:rPr lang="en-US" dirty="0"/>
              <a:t>ABOUT US</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a:normAutofit/>
          </a:bodyPr>
          <a:lstStyle/>
          <a:p>
            <a:r>
              <a:rPr lang="en-US" dirty="0"/>
              <a:t>At Contoso, we empower organizations to foster collaborative thinking to further drive workplace innovation. By closing the loop and leveraging agile frameworks, we help business grow organically and foster a consumer-first mindset.</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dirty="0"/>
              <a:t>20XX</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838200" y="5509419"/>
            <a:ext cx="4082142" cy="585788"/>
          </a:xfrm>
        </p:spPr>
        <p:txBody>
          <a:bodyPr/>
          <a:lstStyle/>
          <a:p>
            <a:r>
              <a:rPr lang="en-US" dirty="0"/>
              <a:t>PROBLEM</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r>
              <a:rPr lang="en-US" dirty="0"/>
              <a:t>MARKET GAP</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a:lstStyle/>
          <a:p>
            <a:r>
              <a:rPr lang="en-US" dirty="0"/>
              <a:t>CUSTOMERS</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a:lstStyle/>
          <a:p>
            <a:r>
              <a:rPr lang="en-US" dirty="0"/>
              <a:t>FINANCIALS</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a:lstStyle/>
          <a:p>
            <a:r>
              <a:rPr lang="en-US" dirty="0"/>
              <a:t>COSTS</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a:lstStyle/>
          <a:p>
            <a:r>
              <a:rPr lang="en-US" dirty="0"/>
              <a:t>Few, if any, products on the market help customers like we do</a:t>
            </a:r>
          </a:p>
          <a:p>
            <a:endParaRPr lang="en-US" dirty="0"/>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lstStyle/>
          <a:p>
            <a:r>
              <a:rPr lang="en-US" dirty="0"/>
              <a:t>66% of US consumers spend money on multiple products that only partially resolves their issue</a:t>
            </a:r>
          </a:p>
          <a:p>
            <a:endParaRPr lang="en-US" dirty="0"/>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lstStyle/>
          <a:p>
            <a:r>
              <a:rPr lang="en-US" dirty="0"/>
              <a:t>Millennials account for about a quarter of the $48 billion spent on other products in 2018</a:t>
            </a:r>
          </a:p>
          <a:p>
            <a:endParaRPr lang="en-US" dirty="0"/>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lstStyle/>
          <a:p>
            <a:r>
              <a:rPr lang="en-US" dirty="0"/>
              <a:t>Loss of productivity costing consumers thousands of dollars </a:t>
            </a:r>
          </a:p>
          <a:p>
            <a:endParaRPr lang="en-US" dirty="0"/>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dirty="0"/>
              <a:t>20XX</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dirty="0"/>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lstStyle/>
          <a:p>
            <a:r>
              <a:rPr lang="en-US" dirty="0"/>
              <a:t>SOLUTION</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485900" y="2563123"/>
            <a:ext cx="4031945" cy="365125"/>
          </a:xfrm>
        </p:spPr>
        <p:txBody>
          <a:bodyPr vert="horz" lIns="91440" tIns="45720" rIns="91440" bIns="45720" rtlCol="0" anchor="t">
            <a:normAutofit lnSpcReduction="10000"/>
          </a:bodyPr>
          <a:lstStyle/>
          <a:p>
            <a:r>
              <a:rPr lang="en-US" dirty="0"/>
              <a:t>CLOSE THE GAP</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485664" y="3070348"/>
            <a:ext cx="4031030" cy="1057308"/>
          </a:xfrm>
        </p:spPr>
        <p:txBody>
          <a:bodyPr/>
          <a:lstStyle/>
          <a:p>
            <a:r>
              <a:rPr lang="en-US" dirty="0"/>
              <a:t>Our product makes consumer lives easier, and no other product on the market offers the same features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3004" y="2563123"/>
            <a:ext cx="4031945" cy="365125"/>
          </a:xfrm>
        </p:spPr>
        <p:txBody>
          <a:bodyPr>
            <a:normAutofit lnSpcReduction="10000"/>
          </a:bodyPr>
          <a:lstStyle/>
          <a:p>
            <a:r>
              <a:rPr lang="en-US" dirty="0"/>
              <a:t>TARGET AUDIENCE</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6673143" y="3070348"/>
            <a:ext cx="4031030" cy="1057308"/>
          </a:xfrm>
        </p:spPr>
        <p:txBody>
          <a:bodyPr/>
          <a:lstStyle/>
          <a:p>
            <a:r>
              <a:rPr lang="en-US" dirty="0"/>
              <a:t>Our target audience is Gen Z (18-25 years old)</a:t>
            </a:r>
          </a:p>
          <a:p>
            <a:endParaRPr lang="en-US" dirty="0"/>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485899" y="4319431"/>
            <a:ext cx="4031945" cy="365125"/>
          </a:xfrm>
        </p:spPr>
        <p:txBody>
          <a:bodyPr>
            <a:normAutofit lnSpcReduction="10000"/>
          </a:bodyPr>
          <a:lstStyle/>
          <a:p>
            <a:r>
              <a:rPr lang="en-US" dirty="0"/>
              <a:t>COST SAVINGS</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486412" y="4826656"/>
            <a:ext cx="4031030" cy="1057308"/>
          </a:xfrm>
        </p:spPr>
        <p:txBody>
          <a:bodyPr/>
          <a:lstStyle/>
          <a:p>
            <a:r>
              <a:rPr lang="en-US" dirty="0"/>
              <a:t>Reduce expenses for replacement products </a:t>
            </a:r>
          </a:p>
          <a:p>
            <a:endParaRPr lang="en-US"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6672630" y="4319431"/>
            <a:ext cx="4031945" cy="365125"/>
          </a:xfrm>
        </p:spPr>
        <p:txBody>
          <a:bodyPr>
            <a:normAutofit lnSpcReduction="10000"/>
          </a:bodyPr>
          <a:lstStyle/>
          <a:p>
            <a:r>
              <a:rPr lang="en-US" dirty="0"/>
              <a:t>EASY TO USE</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6673143" y="4826656"/>
            <a:ext cx="4031030" cy="1057308"/>
          </a:xfrm>
        </p:spPr>
        <p:txBody>
          <a:bodyPr/>
          <a:lstStyle/>
          <a:p>
            <a:r>
              <a:rPr lang="en-US" dirty="0"/>
              <a:t>Simple design that gives customers the targeted information they need</a:t>
            </a: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a:lstStyle/>
          <a:p>
            <a:r>
              <a:rPr lang="en-US" dirty="0"/>
              <a:t>20XX</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a:lstStyle/>
          <a:p>
            <a:r>
              <a:rPr lang="en-US" dirty="0"/>
              <a:t>Pitch Deck</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a:lstStyle/>
          <a:p>
            <a:r>
              <a:rPr lang="en-US" dirty="0"/>
              <a:t>PRODUCT OVERVIEW</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r>
              <a:rPr lang="en-US" dirty="0"/>
              <a:t>UNIQUE</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921828" y="1860060"/>
            <a:ext cx="5431971" cy="557950"/>
          </a:xfrm>
        </p:spPr>
        <p:txBody>
          <a:bodyPr>
            <a:normAutofit/>
          </a:bodyPr>
          <a:lstStyle/>
          <a:p>
            <a:r>
              <a:rPr lang="en-US" dirty="0"/>
              <a:t>Only product specifically dedicated to this niche market</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2254" y="2630431"/>
            <a:ext cx="5433204" cy="365125"/>
          </a:xfrm>
        </p:spPr>
        <p:txBody>
          <a:bodyPr>
            <a:normAutofit lnSpcReduction="10000"/>
          </a:bodyPr>
          <a:lstStyle/>
          <a:p>
            <a:r>
              <a:rPr lang="en-US" dirty="0"/>
              <a:t>FIRST TO MARKET</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921828" y="2959856"/>
            <a:ext cx="5431971" cy="557950"/>
          </a:xfrm>
        </p:spPr>
        <p:txBody>
          <a:bodyPr/>
          <a:lstStyle/>
          <a:p>
            <a:r>
              <a:rPr lang="en-US" dirty="0"/>
              <a:t>First beautifully designed product that's both stylish and functional</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a:normAutofit lnSpcReduction="10000"/>
          </a:bodyPr>
          <a:lstStyle/>
          <a:p>
            <a:r>
              <a:rPr lang="en-US" dirty="0"/>
              <a:t>TESTED </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921828" y="4059652"/>
            <a:ext cx="5431971" cy="557950"/>
          </a:xfrm>
        </p:spPr>
        <p:txBody>
          <a:bodyPr/>
          <a:lstStyle/>
          <a:p>
            <a:r>
              <a:rPr lang="en-US" dirty="0"/>
              <a:t>Conducted testing with college students in the area</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7"/>
          </p:nvPr>
        </p:nvSpPr>
        <p:spPr>
          <a:xfrm>
            <a:off x="5920106" y="4830024"/>
            <a:ext cx="5433204" cy="365125"/>
          </a:xfrm>
        </p:spPr>
        <p:txBody>
          <a:bodyPr>
            <a:normAutofit lnSpcReduction="10000"/>
          </a:bodyPr>
          <a:lstStyle/>
          <a:p>
            <a:r>
              <a:rPr lang="en-US" dirty="0"/>
              <a:t>AUTHENTIC</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8"/>
          </p:nvPr>
        </p:nvSpPr>
        <p:spPr>
          <a:xfrm>
            <a:off x="5919680" y="5159449"/>
            <a:ext cx="5431971" cy="557950"/>
          </a:xfrm>
        </p:spPr>
        <p:txBody>
          <a:bodyPr/>
          <a:lstStyle/>
          <a:p>
            <a:r>
              <a:rPr lang="en-US" dirty="0"/>
              <a:t>Designed with the help and input of experts in the field </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a:lstStyle/>
          <a:p>
            <a:r>
              <a:rPr lang="en-US" dirty="0"/>
              <a:t>20XX</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a:lstStyle/>
          <a:p>
            <a:r>
              <a:rPr lang="en-US" dirty="0"/>
              <a:t>Pitch Deck</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a:lstStyle/>
          <a:p>
            <a:r>
              <a:rPr lang="en-US" dirty="0"/>
              <a:t>PRODUCT BENEFITS</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1362075" y="3660774"/>
            <a:ext cx="5111750" cy="1525588"/>
          </a:xfrm>
        </p:spPr>
        <p:txBody>
          <a:bodyPr vert="horz" lIns="91440" tIns="45720" rIns="91440" bIns="45720" rtlCol="0" anchor="t">
            <a:normAutofit/>
          </a:bodyPr>
          <a:lstStyle/>
          <a:p>
            <a:r>
              <a:rPr lang="en-US" dirty="0"/>
              <a:t>Cool and stylish product</a:t>
            </a:r>
          </a:p>
          <a:p>
            <a:r>
              <a:rPr lang="en-US" noProof="1"/>
              <a:t>Areas for community connections </a:t>
            </a:r>
          </a:p>
          <a:p>
            <a:r>
              <a:rPr lang="en-US" noProof="1"/>
              <a:t>Online store and market swap</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dirty="0"/>
              <a:t>COMPANY OVERVIEW</a:t>
            </a:r>
          </a:p>
        </p:txBody>
      </p:sp>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1152771"/>
            <a:ext cx="5431971" cy="846301"/>
          </a:xfrm>
        </p:spPr>
        <p:txBody>
          <a:bodyPr/>
          <a:lstStyle/>
          <a:p>
            <a:r>
              <a:rPr lang="en-US" dirty="0"/>
              <a:t>BUSINESS MODEL</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r>
              <a:rPr lang="en-US" noProof="1"/>
              <a:t>ABSTRACT</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a:normAutofit/>
          </a:bodyPr>
          <a:lstStyle/>
          <a:p>
            <a:r>
              <a:rPr lang="en-US" noProof="1"/>
              <a:t>We based our research on market trends and social media</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r>
              <a:rPr lang="en-US" noProof="1"/>
              <a:t>DESIGN</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6"/>
            <a:ext cx="5431971" cy="557950"/>
          </a:xfrm>
        </p:spPr>
        <p:txBody>
          <a:bodyPr>
            <a:normAutofit/>
          </a:bodyPr>
          <a:lstStyle/>
          <a:p>
            <a:r>
              <a:rPr lang="en-US" noProof="1"/>
              <a:t>We believe people need more products specifically dedicated to this niche market</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22254" y="4669107"/>
            <a:ext cx="5433204" cy="365125"/>
          </a:xfrm>
        </p:spPr>
        <p:txBody>
          <a:bodyPr vert="horz" lIns="91440" tIns="45720" rIns="91440" bIns="45720" rtlCol="0" anchor="t">
            <a:normAutofit lnSpcReduction="10000"/>
          </a:bodyPr>
          <a:lstStyle/>
          <a:p>
            <a:r>
              <a:rPr lang="en-US" noProof="1"/>
              <a:t>RESEARCH</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21828" y="4998532"/>
            <a:ext cx="5431971" cy="557950"/>
          </a:xfrm>
        </p:spPr>
        <p:txBody>
          <a:bodyPr>
            <a:normAutofit/>
          </a:bodyPr>
          <a:lstStyle/>
          <a:p>
            <a:r>
              <a:rPr lang="en-US" noProof="1"/>
              <a:t>Minimalist and easy to use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a:lstStyle/>
          <a:p>
            <a:r>
              <a:rPr lang="en-US" dirty="0"/>
              <a:t>20XX</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8</a:t>
            </a:fld>
            <a:endParaRPr lang="en-US" dirty="0"/>
          </a:p>
        </p:txBody>
      </p:sp>
    </p:spTree>
    <p:extLst>
      <p:ext uri="{BB962C8B-B14F-4D97-AF65-F5344CB8AC3E}">
        <p14:creationId xmlns:p14="http://schemas.microsoft.com/office/powerpoint/2010/main" val="20693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a:lstStyle/>
          <a:p>
            <a:r>
              <a:rPr lang="en-US" dirty="0"/>
              <a:t>MARKET OVERVIEW</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a:lstStyle/>
          <a:p>
            <a:r>
              <a:rPr lang="en-US" dirty="0"/>
              <a:t>$3 Billion</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r>
              <a:rPr lang="en-US" noProof="1"/>
              <a:t>Freedom to invent</a:t>
            </a:r>
            <a:endParaRPr lang="en-US" dirty="0"/>
          </a:p>
          <a:p>
            <a:r>
              <a:rPr lang="en-US" noProof="1"/>
              <a:t>Selectively inclusive market</a:t>
            </a:r>
          </a:p>
          <a:p>
            <a:r>
              <a:rPr lang="en-US" noProof="1"/>
              <a:t>Serviceable available market</a:t>
            </a:r>
          </a:p>
          <a:p>
            <a:endParaRPr lang="en-US"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a:lstStyle/>
          <a:p>
            <a:r>
              <a:rPr lang="en-US" dirty="0"/>
              <a:t>$1 Billion</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a:lstStyle/>
          <a:p>
            <a:r>
              <a:rPr lang="en-US" dirty="0"/>
              <a:t>Opportunity to build</a:t>
            </a:r>
          </a:p>
          <a:p>
            <a:r>
              <a:rPr lang="en-US" dirty="0"/>
              <a:t>Fully inclusive market</a:t>
            </a:r>
          </a:p>
          <a:p>
            <a:r>
              <a:rPr lang="en-US" dirty="0"/>
              <a:t>Total addressable market</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dirty="0"/>
              <a:t>$2 Billion</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a:lstStyle/>
          <a:p>
            <a:r>
              <a:rPr lang="en-US" noProof="1"/>
              <a:t>Few competitors</a:t>
            </a:r>
          </a:p>
          <a:p>
            <a:r>
              <a:rPr lang="en-US" noProof="1"/>
              <a:t>Specifically targeted market</a:t>
            </a:r>
          </a:p>
          <a:p>
            <a:r>
              <a:rPr lang="en-US" noProof="1"/>
              <a:t>Serviceable obtainable market</a:t>
            </a:r>
            <a:endParaRPr lang="en-US" dirty="0"/>
          </a:p>
          <a:p>
            <a:endParaRPr lang="en-US"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t>20XX</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BC4F-3D59-464A-857E-6F155B368ED7}"/>
              </a:ext>
            </a:extLst>
          </p:cNvPr>
          <p:cNvSpPr>
            <a:spLocks noGrp="1"/>
          </p:cNvSpPr>
          <p:nvPr>
            <p:ph type="title"/>
          </p:nvPr>
        </p:nvSpPr>
        <p:spPr>
          <a:xfrm>
            <a:off x="1885156" y="892177"/>
            <a:ext cx="8421688" cy="1325563"/>
          </a:xfrm>
        </p:spPr>
        <p:txBody>
          <a:bodyPr/>
          <a:lstStyle/>
          <a:p>
            <a:r>
              <a:rPr lang="en-US" dirty="0"/>
              <a:t>Market comparison</a:t>
            </a:r>
          </a:p>
        </p:txBody>
      </p:sp>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a:lstStyle/>
          <a:p>
            <a:r>
              <a:rPr lang="en-US" dirty="0"/>
              <a:t>$3B</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a:lstStyle/>
          <a:p>
            <a:r>
              <a:rPr lang="en-US" dirty="0"/>
              <a:t>$2B</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a:lstStyle/>
          <a:p>
            <a:r>
              <a:rPr lang="en-US" dirty="0"/>
              <a:t>$1B</a:t>
            </a:r>
          </a:p>
        </p:txBody>
      </p:sp>
      <p:sp>
        <p:nvSpPr>
          <p:cNvPr id="19" name="Content Placeholder 18">
            <a:extLst>
              <a:ext uri="{FF2B5EF4-FFF2-40B4-BE49-F238E27FC236}">
                <a16:creationId xmlns:a16="http://schemas.microsoft.com/office/drawing/2014/main" id="{791D6145-F7F7-43DE-A16B-BF4F9607D4E8}"/>
              </a:ext>
            </a:extLst>
          </p:cNvPr>
          <p:cNvSpPr>
            <a:spLocks noGrp="1"/>
          </p:cNvSpPr>
          <p:nvPr>
            <p:ph sz="half" idx="2"/>
          </p:nvPr>
        </p:nvSpPr>
        <p:spPr>
          <a:xfrm>
            <a:off x="1129698" y="4824188"/>
            <a:ext cx="3124093" cy="462927"/>
          </a:xfrm>
        </p:spPr>
        <p:txBody>
          <a:bodyPr/>
          <a:lstStyle/>
          <a:p>
            <a:r>
              <a:rPr lang="en-US" dirty="0"/>
              <a:t>Opportunity to build</a:t>
            </a:r>
          </a:p>
        </p:txBody>
      </p:sp>
      <p:sp>
        <p:nvSpPr>
          <p:cNvPr id="20" name="Content Placeholder 19">
            <a:extLst>
              <a:ext uri="{FF2B5EF4-FFF2-40B4-BE49-F238E27FC236}">
                <a16:creationId xmlns:a16="http://schemas.microsoft.com/office/drawing/2014/main" id="{BC46925A-8382-42EB-891C-DBB4EAAA33F8}"/>
              </a:ext>
            </a:extLst>
          </p:cNvPr>
          <p:cNvSpPr>
            <a:spLocks noGrp="1"/>
          </p:cNvSpPr>
          <p:nvPr>
            <p:ph sz="quarter" idx="4"/>
          </p:nvPr>
        </p:nvSpPr>
        <p:spPr>
          <a:xfrm>
            <a:off x="4526261" y="4824188"/>
            <a:ext cx="3139479" cy="462927"/>
          </a:xfrm>
        </p:spPr>
        <p:txBody>
          <a:bodyPr/>
          <a:lstStyle/>
          <a:p>
            <a:r>
              <a:rPr lang="en-US" dirty="0"/>
              <a:t>Freedom to invent</a:t>
            </a:r>
          </a:p>
        </p:txBody>
      </p:sp>
      <p:sp>
        <p:nvSpPr>
          <p:cNvPr id="21" name="Content Placeholder 20">
            <a:extLst>
              <a:ext uri="{FF2B5EF4-FFF2-40B4-BE49-F238E27FC236}">
                <a16:creationId xmlns:a16="http://schemas.microsoft.com/office/drawing/2014/main" id="{318AFADE-B54F-4988-8000-B9336A395336}"/>
              </a:ext>
            </a:extLst>
          </p:cNvPr>
          <p:cNvSpPr>
            <a:spLocks noGrp="1"/>
          </p:cNvSpPr>
          <p:nvPr>
            <p:ph sz="half" idx="14"/>
          </p:nvPr>
        </p:nvSpPr>
        <p:spPr>
          <a:xfrm>
            <a:off x="7938210" y="4824188"/>
            <a:ext cx="3124093" cy="462927"/>
          </a:xfrm>
        </p:spPr>
        <p:txBody>
          <a:bodyPr/>
          <a:lstStyle/>
          <a:p>
            <a:r>
              <a:rPr lang="en-US" dirty="0"/>
              <a:t>Few competitors</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129698" y="5280763"/>
            <a:ext cx="3124093" cy="462927"/>
          </a:xfrm>
        </p:spPr>
        <p:txBody>
          <a:bodyPr/>
          <a:lstStyle/>
          <a:p>
            <a:r>
              <a:rPr lang="en-US" dirty="0"/>
              <a:t>Addressable market</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526261" y="5280763"/>
            <a:ext cx="3139479" cy="462927"/>
          </a:xfrm>
        </p:spPr>
        <p:txBody>
          <a:bodyPr/>
          <a:lstStyle/>
          <a:p>
            <a:r>
              <a:rPr lang="en-US" dirty="0"/>
              <a:t>Serviceable market</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7938210" y="5280763"/>
            <a:ext cx="3124093" cy="462927"/>
          </a:xfrm>
        </p:spPr>
        <p:txBody>
          <a:bodyPr/>
          <a:lstStyle/>
          <a:p>
            <a:r>
              <a:rPr lang="en-US" dirty="0"/>
              <a:t>Obtainable market</a:t>
            </a:r>
          </a:p>
        </p:txBody>
      </p:sp>
      <p:sp>
        <p:nvSpPr>
          <p:cNvPr id="5" name="Date Placeholder 4">
            <a:extLst>
              <a:ext uri="{FF2B5EF4-FFF2-40B4-BE49-F238E27FC236}">
                <a16:creationId xmlns:a16="http://schemas.microsoft.com/office/drawing/2014/main" id="{79C22D8C-87A6-47AD-8D29-FBBA539EDBE2}"/>
              </a:ext>
            </a:extLst>
          </p:cNvPr>
          <p:cNvSpPr>
            <a:spLocks noGrp="1"/>
          </p:cNvSpPr>
          <p:nvPr>
            <p:ph type="dt" sz="half" idx="10"/>
          </p:nvPr>
        </p:nvSpPr>
        <p:spPr>
          <a:xfrm>
            <a:off x="838200" y="6356350"/>
            <a:ext cx="2743200" cy="365125"/>
          </a:xfrm>
        </p:spPr>
        <p:txBody>
          <a:bodyPr/>
          <a:lstStyle/>
          <a:p>
            <a:r>
              <a:rPr lang="en-US" dirty="0"/>
              <a:t>20XX</a:t>
            </a:r>
          </a:p>
        </p:txBody>
      </p:sp>
      <p:sp>
        <p:nvSpPr>
          <p:cNvPr id="6" name="Footer Placeholder 5">
            <a:extLst>
              <a:ext uri="{FF2B5EF4-FFF2-40B4-BE49-F238E27FC236}">
                <a16:creationId xmlns:a16="http://schemas.microsoft.com/office/drawing/2014/main" id="{4D346909-C2E0-4F1D-90FC-F5E1D8DFB515}"/>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404854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892177"/>
            <a:ext cx="8421688" cy="1325563"/>
          </a:xfrm>
        </p:spPr>
        <p:txBody>
          <a:bodyPr/>
          <a:lstStyle/>
          <a:p>
            <a:r>
              <a:rPr lang="en-US" dirty="0"/>
              <a:t>OUR COMPETITION</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
          </p:nvPr>
        </p:nvSpPr>
        <p:spPr>
          <a:xfrm>
            <a:off x="2933700" y="2776936"/>
            <a:ext cx="3924300" cy="823912"/>
          </a:xfrm>
        </p:spPr>
        <p:txBody>
          <a:bodyPr/>
          <a:lstStyle/>
          <a:p>
            <a:r>
              <a:rPr lang="en-US" dirty="0"/>
              <a:t>CONTOSO</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933700" y="3834606"/>
            <a:ext cx="3924300" cy="1997867"/>
          </a:xfrm>
        </p:spPr>
        <p:txBody>
          <a:bodyPr vert="horz" lIns="91440" tIns="45720" rIns="91440" bIns="45720" rtlCol="0" anchor="t">
            <a:normAutofit/>
          </a:bodyPr>
          <a:lstStyle/>
          <a:p>
            <a:r>
              <a:rPr lang="en-US" noProof="1"/>
              <a:t>Our product is priced below that of other companies on the market</a:t>
            </a:r>
          </a:p>
          <a:p>
            <a:r>
              <a:rPr lang="en-US" noProof="1"/>
              <a:t>Design is simple and easy to use, compared to the complex designs of the competitors</a:t>
            </a:r>
          </a:p>
          <a:p>
            <a:r>
              <a:rPr lang="en-US" noProof="1"/>
              <a:t>Affordability is the main draw for our consumers to our product</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3"/>
          </p:nvPr>
        </p:nvSpPr>
        <p:spPr>
          <a:xfrm>
            <a:off x="7410173" y="2776936"/>
            <a:ext cx="3943627" cy="823912"/>
          </a:xfrm>
        </p:spPr>
        <p:txBody>
          <a:bodyPr/>
          <a:lstStyle/>
          <a:p>
            <a:r>
              <a:rPr lang="en-US" dirty="0"/>
              <a:t>COMPETITORS</a:t>
            </a:r>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
          </p:nvPr>
        </p:nvSpPr>
        <p:spPr>
          <a:xfrm>
            <a:off x="7410173" y="3834606"/>
            <a:ext cx="3943627" cy="1997867"/>
          </a:xfrm>
        </p:spPr>
        <p:txBody>
          <a:bodyPr/>
          <a:lstStyle/>
          <a:p>
            <a:r>
              <a:rPr lang="en-US" noProof="1"/>
              <a:t>Company A</a:t>
            </a:r>
            <a:br>
              <a:rPr lang="en-US" noProof="1"/>
            </a:br>
            <a:r>
              <a:rPr lang="en-US" noProof="1"/>
              <a:t>Product is more expensive</a:t>
            </a:r>
          </a:p>
          <a:p>
            <a:r>
              <a:rPr lang="en-US" noProof="1"/>
              <a:t>Companies B &amp; C </a:t>
            </a:r>
            <a:br>
              <a:rPr lang="en-US" noProof="1"/>
            </a:br>
            <a:r>
              <a:rPr lang="en-US" noProof="1"/>
              <a:t>Product is expensive and inconvenient to use</a:t>
            </a:r>
          </a:p>
          <a:p>
            <a:r>
              <a:rPr lang="en-US" noProof="1"/>
              <a:t>Companies D &amp; E</a:t>
            </a:r>
            <a:br>
              <a:rPr lang="en-US" noProof="1"/>
            </a:br>
            <a:r>
              <a:rPr lang="en-US" noProof="1"/>
              <a:t>Product is affordable, but inconvenient to use</a:t>
            </a:r>
          </a:p>
        </p:txBody>
      </p:sp>
      <p:sp>
        <p:nvSpPr>
          <p:cNvPr id="12" name="Date Placeholder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a:lstStyle/>
          <a:p>
            <a:r>
              <a:rPr lang="en-US" dirty="0"/>
              <a:t>20XX</a:t>
            </a:r>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4151694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838200" y="365125"/>
            <a:ext cx="10515600" cy="1325563"/>
          </a:xfrm>
        </p:spPr>
        <p:txBody>
          <a:bodyPr/>
          <a:lstStyle/>
          <a:p>
            <a:r>
              <a:rPr lang="en-US" dirty="0"/>
              <a:t>Our competition  </a:t>
            </a:r>
          </a:p>
        </p:txBody>
      </p:sp>
      <p:sp>
        <p:nvSpPr>
          <p:cNvPr id="5" name="Text Placeholder 4">
            <a:extLst>
              <a:ext uri="{FF2B5EF4-FFF2-40B4-BE49-F238E27FC236}">
                <a16:creationId xmlns:a16="http://schemas.microsoft.com/office/drawing/2014/main" id="{AB97FAAF-FD5C-4EDE-A2D8-148266453488}"/>
              </a:ext>
            </a:extLst>
          </p:cNvPr>
          <p:cNvSpPr>
            <a:spLocks noGrp="1"/>
          </p:cNvSpPr>
          <p:nvPr>
            <p:ph type="body" sz="quarter" idx="15"/>
          </p:nvPr>
        </p:nvSpPr>
        <p:spPr>
          <a:xfrm>
            <a:off x="5242517" y="1599947"/>
            <a:ext cx="1706965" cy="492025"/>
          </a:xfrm>
        </p:spPr>
        <p:txBody>
          <a:bodyPr>
            <a:normAutofit/>
          </a:bodyPr>
          <a:lstStyle/>
          <a:p>
            <a:r>
              <a:rPr lang="en-US" dirty="0"/>
              <a:t>Convenient</a:t>
            </a:r>
          </a:p>
        </p:txBody>
      </p:sp>
      <p:sp>
        <p:nvSpPr>
          <p:cNvPr id="8" name="Text Placeholder 7">
            <a:extLst>
              <a:ext uri="{FF2B5EF4-FFF2-40B4-BE49-F238E27FC236}">
                <a16:creationId xmlns:a16="http://schemas.microsoft.com/office/drawing/2014/main" id="{B2F06784-6A30-4941-B70A-A58B611950D4}"/>
              </a:ext>
            </a:extLst>
          </p:cNvPr>
          <p:cNvSpPr>
            <a:spLocks noGrp="1"/>
          </p:cNvSpPr>
          <p:nvPr>
            <p:ph type="body" sz="quarter" idx="20"/>
          </p:nvPr>
        </p:nvSpPr>
        <p:spPr>
          <a:xfrm>
            <a:off x="3738732" y="2378452"/>
            <a:ext cx="1183179" cy="492025"/>
          </a:xfrm>
        </p:spPr>
        <p:txBody>
          <a:bodyPr>
            <a:normAutofit/>
          </a:bodyPr>
          <a:lstStyle/>
          <a:p>
            <a:r>
              <a:rPr lang="en-US" dirty="0"/>
              <a:t>Competitor A</a:t>
            </a:r>
          </a:p>
        </p:txBody>
      </p:sp>
      <p:sp>
        <p:nvSpPr>
          <p:cNvPr id="29" name="Text Placeholder 28">
            <a:extLst>
              <a:ext uri="{FF2B5EF4-FFF2-40B4-BE49-F238E27FC236}">
                <a16:creationId xmlns:a16="http://schemas.microsoft.com/office/drawing/2014/main" id="{BF7EE2E1-DA9E-4645-BC0D-305C1F12118B}"/>
              </a:ext>
            </a:extLst>
          </p:cNvPr>
          <p:cNvSpPr>
            <a:spLocks noGrp="1"/>
          </p:cNvSpPr>
          <p:nvPr>
            <p:ph type="body" sz="quarter" idx="26"/>
          </p:nvPr>
        </p:nvSpPr>
        <p:spPr>
          <a:xfrm>
            <a:off x="7522269" y="2169263"/>
            <a:ext cx="1706965" cy="1048575"/>
          </a:xfrm>
        </p:spPr>
        <p:txBody>
          <a:bodyPr/>
          <a:lstStyle/>
          <a:p>
            <a:r>
              <a:rPr lang="en-US" dirty="0"/>
              <a:t>Contoso</a:t>
            </a:r>
          </a:p>
        </p:txBody>
      </p:sp>
      <p:sp>
        <p:nvSpPr>
          <p:cNvPr id="28" name="Text Placeholder 27">
            <a:extLst>
              <a:ext uri="{FF2B5EF4-FFF2-40B4-BE49-F238E27FC236}">
                <a16:creationId xmlns:a16="http://schemas.microsoft.com/office/drawing/2014/main" id="{E8BD1918-91E9-45FF-B758-93DAFA9EAFE9}"/>
              </a:ext>
            </a:extLst>
          </p:cNvPr>
          <p:cNvSpPr>
            <a:spLocks noGrp="1"/>
          </p:cNvSpPr>
          <p:nvPr>
            <p:ph type="body" sz="quarter" idx="25"/>
          </p:nvPr>
        </p:nvSpPr>
        <p:spPr>
          <a:xfrm>
            <a:off x="921894" y="3528829"/>
            <a:ext cx="1393863" cy="492025"/>
          </a:xfrm>
        </p:spPr>
        <p:txBody>
          <a:bodyPr/>
          <a:lstStyle/>
          <a:p>
            <a:r>
              <a:rPr lang="en-US" dirty="0"/>
              <a:t>Affordable</a:t>
            </a:r>
          </a:p>
        </p:txBody>
      </p:sp>
      <p:sp>
        <p:nvSpPr>
          <p:cNvPr id="7" name="Text Placeholder 6">
            <a:extLst>
              <a:ext uri="{FF2B5EF4-FFF2-40B4-BE49-F238E27FC236}">
                <a16:creationId xmlns:a16="http://schemas.microsoft.com/office/drawing/2014/main" id="{E9C0C8B1-2DBC-40B1-BBA7-7B3D396478A1}"/>
              </a:ext>
            </a:extLst>
          </p:cNvPr>
          <p:cNvSpPr>
            <a:spLocks noGrp="1"/>
          </p:cNvSpPr>
          <p:nvPr>
            <p:ph type="body" sz="quarter" idx="19"/>
          </p:nvPr>
        </p:nvSpPr>
        <p:spPr>
          <a:xfrm>
            <a:off x="9940449" y="3528829"/>
            <a:ext cx="1380681" cy="492025"/>
          </a:xfrm>
        </p:spPr>
        <p:txBody>
          <a:bodyPr>
            <a:normAutofit/>
          </a:bodyPr>
          <a:lstStyle/>
          <a:p>
            <a:r>
              <a:rPr lang="en-US" dirty="0"/>
              <a:t>Expensive</a:t>
            </a:r>
          </a:p>
        </p:txBody>
      </p:sp>
      <p:sp>
        <p:nvSpPr>
          <p:cNvPr id="25" name="Text Placeholder 24">
            <a:extLst>
              <a:ext uri="{FF2B5EF4-FFF2-40B4-BE49-F238E27FC236}">
                <a16:creationId xmlns:a16="http://schemas.microsoft.com/office/drawing/2014/main" id="{225FED20-8F0E-4B86-88AD-F902806B2CA0}"/>
              </a:ext>
            </a:extLst>
          </p:cNvPr>
          <p:cNvSpPr>
            <a:spLocks noGrp="1"/>
          </p:cNvSpPr>
          <p:nvPr>
            <p:ph type="body" sz="quarter" idx="22"/>
          </p:nvPr>
        </p:nvSpPr>
        <p:spPr>
          <a:xfrm>
            <a:off x="2637747" y="4634331"/>
            <a:ext cx="1183179" cy="492025"/>
          </a:xfrm>
        </p:spPr>
        <p:txBody>
          <a:bodyPr/>
          <a:lstStyle/>
          <a:p>
            <a:r>
              <a:rPr lang="en-US" dirty="0"/>
              <a:t>Competitor B</a:t>
            </a:r>
          </a:p>
        </p:txBody>
      </p:sp>
      <p:sp>
        <p:nvSpPr>
          <p:cNvPr id="24" name="Text Placeholder 23">
            <a:extLst>
              <a:ext uri="{FF2B5EF4-FFF2-40B4-BE49-F238E27FC236}">
                <a16:creationId xmlns:a16="http://schemas.microsoft.com/office/drawing/2014/main" id="{568D7422-F48C-4829-8937-7DA701F3303B}"/>
              </a:ext>
            </a:extLst>
          </p:cNvPr>
          <p:cNvSpPr>
            <a:spLocks noGrp="1"/>
          </p:cNvSpPr>
          <p:nvPr>
            <p:ph type="body" sz="quarter" idx="21"/>
          </p:nvPr>
        </p:nvSpPr>
        <p:spPr>
          <a:xfrm>
            <a:off x="4175224" y="4459860"/>
            <a:ext cx="1183179" cy="492025"/>
          </a:xfrm>
        </p:spPr>
        <p:txBody>
          <a:bodyPr/>
          <a:lstStyle/>
          <a:p>
            <a:r>
              <a:rPr lang="en-US" dirty="0"/>
              <a:t>Competitor C</a:t>
            </a:r>
          </a:p>
        </p:txBody>
      </p:sp>
      <p:sp>
        <p:nvSpPr>
          <p:cNvPr id="26" name="Text Placeholder 25">
            <a:extLst>
              <a:ext uri="{FF2B5EF4-FFF2-40B4-BE49-F238E27FC236}">
                <a16:creationId xmlns:a16="http://schemas.microsoft.com/office/drawing/2014/main" id="{2329531A-E68A-4913-9B66-062FBAC6D24D}"/>
              </a:ext>
            </a:extLst>
          </p:cNvPr>
          <p:cNvSpPr>
            <a:spLocks noGrp="1"/>
          </p:cNvSpPr>
          <p:nvPr>
            <p:ph type="body" sz="quarter" idx="23"/>
          </p:nvPr>
        </p:nvSpPr>
        <p:spPr>
          <a:xfrm>
            <a:off x="6552714" y="4321788"/>
            <a:ext cx="1183179" cy="492025"/>
          </a:xfrm>
        </p:spPr>
        <p:txBody>
          <a:bodyPr/>
          <a:lstStyle/>
          <a:p>
            <a:r>
              <a:rPr lang="en-US" dirty="0"/>
              <a:t>Competitor D</a:t>
            </a:r>
          </a:p>
        </p:txBody>
      </p:sp>
      <p:sp>
        <p:nvSpPr>
          <p:cNvPr id="6" name="Text Placeholder 5">
            <a:extLst>
              <a:ext uri="{FF2B5EF4-FFF2-40B4-BE49-F238E27FC236}">
                <a16:creationId xmlns:a16="http://schemas.microsoft.com/office/drawing/2014/main" id="{7F0BD43D-EBFD-48E7-A1D3-EB9228D4C58B}"/>
              </a:ext>
            </a:extLst>
          </p:cNvPr>
          <p:cNvSpPr>
            <a:spLocks noGrp="1"/>
          </p:cNvSpPr>
          <p:nvPr>
            <p:ph type="body" sz="quarter" idx="17"/>
          </p:nvPr>
        </p:nvSpPr>
        <p:spPr>
          <a:xfrm>
            <a:off x="5242517" y="5468790"/>
            <a:ext cx="1706965" cy="492025"/>
          </a:xfrm>
        </p:spPr>
        <p:txBody>
          <a:bodyPr>
            <a:normAutofit/>
          </a:bodyPr>
          <a:lstStyle/>
          <a:p>
            <a:r>
              <a:rPr lang="en-US" dirty="0"/>
              <a:t>Inconvenient</a:t>
            </a:r>
          </a:p>
        </p:txBody>
      </p:sp>
      <p:sp>
        <p:nvSpPr>
          <p:cNvPr id="27" name="Text Placeholder 26">
            <a:extLst>
              <a:ext uri="{FF2B5EF4-FFF2-40B4-BE49-F238E27FC236}">
                <a16:creationId xmlns:a16="http://schemas.microsoft.com/office/drawing/2014/main" id="{69ADCED5-CED8-4991-9B1E-DB7381BE7431}"/>
              </a:ext>
            </a:extLst>
          </p:cNvPr>
          <p:cNvSpPr>
            <a:spLocks noGrp="1"/>
          </p:cNvSpPr>
          <p:nvPr>
            <p:ph type="body" sz="quarter" idx="24"/>
          </p:nvPr>
        </p:nvSpPr>
        <p:spPr>
          <a:xfrm>
            <a:off x="7801857" y="5195673"/>
            <a:ext cx="1183179" cy="492025"/>
          </a:xfrm>
        </p:spPr>
        <p:txBody>
          <a:bodyPr/>
          <a:lstStyle/>
          <a:p>
            <a:r>
              <a:rPr lang="en-US" dirty="0"/>
              <a:t>Competitor E</a:t>
            </a:r>
          </a:p>
        </p:txBody>
      </p:sp>
      <p:sp>
        <p:nvSpPr>
          <p:cNvPr id="42" name="Date Placeholder 41">
            <a:extLst>
              <a:ext uri="{FF2B5EF4-FFF2-40B4-BE49-F238E27FC236}">
                <a16:creationId xmlns:a16="http://schemas.microsoft.com/office/drawing/2014/main" id="{8ADD2DBD-D314-47B1-BD25-DAF6D4437F74}"/>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CC7E0A4-FE8E-4F7B-8370-1FA3484B614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5CE495FC-7E0A-4342-A40D-3B65DCA780C6}"/>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12</a:t>
            </a:fld>
            <a:endParaRPr lang="en-US" dirty="0"/>
          </a:p>
        </p:txBody>
      </p:sp>
      <p:sp>
        <p:nvSpPr>
          <p:cNvPr id="31" name="Oval 30">
            <a:extLst>
              <a:ext uri="{FF2B5EF4-FFF2-40B4-BE49-F238E27FC236}">
                <a16:creationId xmlns:a16="http://schemas.microsoft.com/office/drawing/2014/main" id="{F116CCE2-DE5B-4D04-8780-DE09E03B8A28}"/>
              </a:ext>
              <a:ext uri="{C183D7F6-B498-43B3-948B-1728B52AA6E4}">
                <adec:decorative xmlns:adec="http://schemas.microsoft.com/office/drawing/2017/decorative" val="1"/>
              </a:ext>
            </a:extLst>
          </p:cNvPr>
          <p:cNvSpPr/>
          <p:nvPr/>
        </p:nvSpPr>
        <p:spPr>
          <a:xfrm>
            <a:off x="4291806" y="2334532"/>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1930BF4B-0565-4413-BDB0-116E9B84F127}"/>
              </a:ext>
              <a:ext uri="{C183D7F6-B498-43B3-948B-1728B52AA6E4}">
                <adec:decorative xmlns:adec="http://schemas.microsoft.com/office/drawing/2017/decorative" val="1"/>
              </a:ext>
            </a:extLst>
          </p:cNvPr>
          <p:cNvSpPr/>
          <p:nvPr/>
        </p:nvSpPr>
        <p:spPr>
          <a:xfrm>
            <a:off x="4728369" y="44211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EC73B38-496F-4951-89EB-38E1A77E186B}"/>
              </a:ext>
              <a:ext uri="{C183D7F6-B498-43B3-948B-1728B52AA6E4}">
                <adec:decorative xmlns:adec="http://schemas.microsoft.com/office/drawing/2017/decorative" val="1"/>
              </a:ext>
            </a:extLst>
          </p:cNvPr>
          <p:cNvSpPr/>
          <p:nvPr/>
        </p:nvSpPr>
        <p:spPr>
          <a:xfrm>
            <a:off x="3164455" y="4595813"/>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8658B547-4844-4FC2-9B4E-C8A8DF4D66D8}"/>
              </a:ext>
              <a:ext uri="{C183D7F6-B498-43B3-948B-1728B52AA6E4}">
                <adec:decorative xmlns:adec="http://schemas.microsoft.com/office/drawing/2017/decorative" val="1"/>
              </a:ext>
            </a:extLst>
          </p:cNvPr>
          <p:cNvSpPr/>
          <p:nvPr/>
        </p:nvSpPr>
        <p:spPr>
          <a:xfrm>
            <a:off x="7106444" y="4288517"/>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7890BF0-461E-41CE-AFC1-AD52C6B9549E}"/>
              </a:ext>
              <a:ext uri="{C183D7F6-B498-43B3-948B-1728B52AA6E4}">
                <adec:decorative xmlns:adec="http://schemas.microsoft.com/office/drawing/2017/decorative" val="1"/>
              </a:ext>
            </a:extLst>
          </p:cNvPr>
          <p:cNvSpPr/>
          <p:nvPr/>
        </p:nvSpPr>
        <p:spPr>
          <a:xfrm>
            <a:off x="8355806" y="51577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Graphic 61">
            <a:extLst>
              <a:ext uri="{FF2B5EF4-FFF2-40B4-BE49-F238E27FC236}">
                <a16:creationId xmlns:a16="http://schemas.microsoft.com/office/drawing/2014/main" id="{9201E1F5-4143-449F-8629-751D360010A3}"/>
              </a:ext>
              <a:ext uri="{C183D7F6-B498-43B3-948B-1728B52AA6E4}">
                <adec:decorative xmlns:adec="http://schemas.microsoft.com/office/drawing/2017/decorative" val="1"/>
              </a:ext>
            </a:extLst>
          </p:cNvPr>
          <p:cNvSpPr/>
          <p:nvPr/>
        </p:nvSpPr>
        <p:spPr>
          <a:xfrm>
            <a:off x="7597401" y="2072999"/>
            <a:ext cx="1519834" cy="1268594"/>
          </a:xfrm>
          <a:custGeom>
            <a:avLst/>
            <a:gdLst>
              <a:gd name="connsiteX0" fmla="*/ 625766 w 1590050"/>
              <a:gd name="connsiteY0" fmla="*/ 178826 h 1315433"/>
              <a:gd name="connsiteX1" fmla="*/ 284934 w 1590050"/>
              <a:gd name="connsiteY1" fmla="*/ 458195 h 1315433"/>
              <a:gd name="connsiteX2" fmla="*/ 236288 w 1590050"/>
              <a:gd name="connsiteY2" fmla="*/ 498087 h 1315433"/>
              <a:gd name="connsiteX3" fmla="*/ 70217 w 1590050"/>
              <a:gd name="connsiteY3" fmla="*/ 843983 h 1315433"/>
              <a:gd name="connsiteX4" fmla="*/ 651339 w 1590050"/>
              <a:gd name="connsiteY4" fmla="*/ 1315434 h 1315433"/>
              <a:gd name="connsiteX5" fmla="*/ 1079209 w 1590050"/>
              <a:gd name="connsiteY5" fmla="*/ 1264350 h 1315433"/>
              <a:gd name="connsiteX6" fmla="*/ 1430420 w 1590050"/>
              <a:gd name="connsiteY6" fmla="*/ 957844 h 1315433"/>
              <a:gd name="connsiteX7" fmla="*/ 1590051 w 1590050"/>
              <a:gd name="connsiteY7" fmla="*/ 536415 h 1315433"/>
              <a:gd name="connsiteX8" fmla="*/ 1277105 w 1590050"/>
              <a:gd name="connsiteY8" fmla="*/ 312883 h 1315433"/>
              <a:gd name="connsiteX9" fmla="*/ 913138 w 1590050"/>
              <a:gd name="connsiteY9" fmla="*/ 134119 h 1315433"/>
              <a:gd name="connsiteX10" fmla="*/ 536415 w 1590050"/>
              <a:gd name="connsiteY10" fmla="*/ 83035 h 1315433"/>
              <a:gd name="connsiteX11" fmla="*/ 191581 w 1590050"/>
              <a:gd name="connsiteY11" fmla="*/ 843983 h 1315433"/>
              <a:gd name="connsiteX12" fmla="*/ 146875 w 1590050"/>
              <a:gd name="connsiteY12" fmla="*/ 1149426 h 1315433"/>
              <a:gd name="connsiteX13" fmla="*/ 1245217 w 1590050"/>
              <a:gd name="connsiteY13" fmla="*/ 1289923 h 1315433"/>
              <a:gd name="connsiteX14" fmla="*/ 1519771 w 1590050"/>
              <a:gd name="connsiteY14" fmla="*/ 344834 h 1315433"/>
              <a:gd name="connsiteX15" fmla="*/ 798214 w 1590050"/>
              <a:gd name="connsiteY15" fmla="*/ 223532 h 1315433"/>
              <a:gd name="connsiteX16" fmla="*/ 0 w 1590050"/>
              <a:gd name="connsiteY16" fmla="*/ 699235 h 1315433"/>
              <a:gd name="connsiteX17" fmla="*/ 434247 w 1590050"/>
              <a:gd name="connsiteY17" fmla="*/ 1315434 h 1315433"/>
              <a:gd name="connsiteX18" fmla="*/ 1468686 w 1590050"/>
              <a:gd name="connsiteY18" fmla="*/ 1091964 h 1315433"/>
              <a:gd name="connsiteX19" fmla="*/ 1155804 w 1590050"/>
              <a:gd name="connsiteY19" fmla="*/ 0 h 1315433"/>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146875 w 1590051"/>
              <a:gd name="connsiteY12" fmla="*/ 114942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344995 w 1590051"/>
              <a:gd name="connsiteY12" fmla="*/ 101988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727997 w 1519834"/>
              <a:gd name="connsiteY15" fmla="*/ 22353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428949 w 1519834"/>
              <a:gd name="connsiteY18" fmla="*/ 939564 h 1315434"/>
              <a:gd name="connsiteX19" fmla="*/ 1085587 w 1519834"/>
              <a:gd name="connsiteY19" fmla="*/ 0 h 1315434"/>
              <a:gd name="connsiteX20" fmla="*/ 555549 w 1519834"/>
              <a:gd name="connsiteY20" fmla="*/ 178826 h 131543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64030 w 1519834"/>
              <a:gd name="connsiteY17" fmla="*/ 131543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56410 w 1519834"/>
              <a:gd name="connsiteY17" fmla="*/ 124685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95791 h 1262879"/>
              <a:gd name="connsiteX1" fmla="*/ 214717 w 1519834"/>
              <a:gd name="connsiteY1" fmla="*/ 375160 h 1262879"/>
              <a:gd name="connsiteX2" fmla="*/ 166071 w 1519834"/>
              <a:gd name="connsiteY2" fmla="*/ 415052 h 1262879"/>
              <a:gd name="connsiteX3" fmla="*/ 0 w 1519834"/>
              <a:gd name="connsiteY3" fmla="*/ 760948 h 1262879"/>
              <a:gd name="connsiteX4" fmla="*/ 741142 w 1519834"/>
              <a:gd name="connsiteY4" fmla="*/ 1262879 h 1262879"/>
              <a:gd name="connsiteX5" fmla="*/ 1008992 w 1519834"/>
              <a:gd name="connsiteY5" fmla="*/ 1181315 h 1262879"/>
              <a:gd name="connsiteX6" fmla="*/ 1253523 w 1519834"/>
              <a:gd name="connsiteY6" fmla="*/ 829089 h 1262879"/>
              <a:gd name="connsiteX7" fmla="*/ 1519834 w 1519834"/>
              <a:gd name="connsiteY7" fmla="*/ 453380 h 1262879"/>
              <a:gd name="connsiteX8" fmla="*/ 1206888 w 1519834"/>
              <a:gd name="connsiteY8" fmla="*/ 229848 h 1262879"/>
              <a:gd name="connsiteX9" fmla="*/ 842921 w 1519834"/>
              <a:gd name="connsiteY9" fmla="*/ 51084 h 1262879"/>
              <a:gd name="connsiteX10" fmla="*/ 466198 w 1519834"/>
              <a:gd name="connsiteY10" fmla="*/ 0 h 1262879"/>
              <a:gd name="connsiteX11" fmla="*/ 220424 w 1519834"/>
              <a:gd name="connsiteY11" fmla="*/ 578068 h 1262879"/>
              <a:gd name="connsiteX12" fmla="*/ 274778 w 1519834"/>
              <a:gd name="connsiteY12" fmla="*/ 936851 h 1262879"/>
              <a:gd name="connsiteX13" fmla="*/ 1175000 w 1519834"/>
              <a:gd name="connsiteY13" fmla="*/ 1206888 h 1262879"/>
              <a:gd name="connsiteX14" fmla="*/ 1449554 w 1519834"/>
              <a:gd name="connsiteY14" fmla="*/ 261799 h 1262879"/>
              <a:gd name="connsiteX15" fmla="*/ 331757 w 1519834"/>
              <a:gd name="connsiteY15" fmla="*/ 79537 h 1262879"/>
              <a:gd name="connsiteX16" fmla="*/ 105043 w 1519834"/>
              <a:gd name="connsiteY16" fmla="*/ 639060 h 1262879"/>
              <a:gd name="connsiteX17" fmla="*/ 356410 w 1519834"/>
              <a:gd name="connsiteY17" fmla="*/ 1163819 h 1262879"/>
              <a:gd name="connsiteX18" fmla="*/ 1428949 w 1519834"/>
              <a:gd name="connsiteY18" fmla="*/ 856529 h 1262879"/>
              <a:gd name="connsiteX19" fmla="*/ 1055107 w 1519834"/>
              <a:gd name="connsiteY19" fmla="*/ 61745 h 1262879"/>
              <a:gd name="connsiteX20" fmla="*/ 555549 w 1519834"/>
              <a:gd name="connsiteY20" fmla="*/ 95791 h 1262879"/>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428949 w 1519834"/>
              <a:gd name="connsiteY18" fmla="*/ 85652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203699 w 1519834"/>
              <a:gd name="connsiteY19" fmla="*/ 489226 h 1268594"/>
              <a:gd name="connsiteX20" fmla="*/ 1055107 w 1519834"/>
              <a:gd name="connsiteY20" fmla="*/ 61745 h 1268594"/>
              <a:gd name="connsiteX21" fmla="*/ 555549 w 1519834"/>
              <a:gd name="connsiteY21"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489449 w 1519834"/>
              <a:gd name="connsiteY19" fmla="*/ 641626 h 1268594"/>
              <a:gd name="connsiteX20" fmla="*/ 1055107 w 1519834"/>
              <a:gd name="connsiteY20" fmla="*/ 61745 h 1268594"/>
              <a:gd name="connsiteX21" fmla="*/ 555549 w 1519834"/>
              <a:gd name="connsiteY21" fmla="*/ 95791 h 126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9834" h="1268594">
                <a:moveTo>
                  <a:pt x="555549" y="95791"/>
                </a:moveTo>
                <a:lnTo>
                  <a:pt x="214717" y="375160"/>
                </a:lnTo>
                <a:lnTo>
                  <a:pt x="166071" y="415052"/>
                </a:lnTo>
                <a:lnTo>
                  <a:pt x="0" y="760948"/>
                </a:lnTo>
                <a:lnTo>
                  <a:pt x="741142" y="1262879"/>
                </a:lnTo>
                <a:lnTo>
                  <a:pt x="1008992" y="1181315"/>
                </a:lnTo>
                <a:lnTo>
                  <a:pt x="1253523" y="829089"/>
                </a:lnTo>
                <a:lnTo>
                  <a:pt x="1519834" y="453380"/>
                </a:lnTo>
                <a:lnTo>
                  <a:pt x="1206888" y="229848"/>
                </a:lnTo>
                <a:lnTo>
                  <a:pt x="842921" y="51084"/>
                </a:lnTo>
                <a:lnTo>
                  <a:pt x="466198" y="0"/>
                </a:lnTo>
                <a:lnTo>
                  <a:pt x="220424" y="578068"/>
                </a:lnTo>
                <a:lnTo>
                  <a:pt x="274778" y="936851"/>
                </a:lnTo>
                <a:lnTo>
                  <a:pt x="1175000" y="1206888"/>
                </a:lnTo>
                <a:lnTo>
                  <a:pt x="1449554" y="261799"/>
                </a:lnTo>
                <a:lnTo>
                  <a:pt x="331757" y="79537"/>
                </a:lnTo>
                <a:lnTo>
                  <a:pt x="105043" y="639060"/>
                </a:lnTo>
                <a:lnTo>
                  <a:pt x="489760" y="1268594"/>
                </a:lnTo>
                <a:lnTo>
                  <a:pt x="1371799" y="989879"/>
                </a:lnTo>
                <a:lnTo>
                  <a:pt x="1489449" y="641626"/>
                </a:lnTo>
                <a:lnTo>
                  <a:pt x="1055107" y="61745"/>
                </a:lnTo>
                <a:lnTo>
                  <a:pt x="555549" y="95791"/>
                </a:lnTo>
                <a:close/>
              </a:path>
            </a:pathLst>
          </a:custGeom>
          <a:noFill/>
          <a:ln w="3175" cap="flat">
            <a:solidFill>
              <a:schemeClr val="accent1">
                <a:lumMod val="75000"/>
              </a:schemeClr>
            </a:solidFill>
            <a:prstDash val="solid"/>
            <a:miter/>
          </a:ln>
        </p:spPr>
        <p:txBody>
          <a:bodyPr rtlCol="0" anchor="ctr"/>
          <a:lstStyle/>
          <a:p>
            <a:endParaRPr lang="en-US" dirty="0"/>
          </a:p>
        </p:txBody>
      </p:sp>
    </p:spTree>
    <p:extLst>
      <p:ext uri="{BB962C8B-B14F-4D97-AF65-F5344CB8AC3E}">
        <p14:creationId xmlns:p14="http://schemas.microsoft.com/office/powerpoint/2010/main" val="1417396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a:lstStyle/>
          <a:p>
            <a:r>
              <a:rPr lang="en-US" dirty="0"/>
              <a:t>Growth strategy</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r>
              <a:rPr lang="en-US" dirty="0"/>
              <a:t>Feb 20XX</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a:normAutofit/>
          </a:bodyPr>
          <a:lstStyle/>
          <a:p>
            <a:r>
              <a:rPr lang="en-US" dirty="0"/>
              <a:t>Roll out product to high profile or top-level participants to help establish the product</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a:normAutofit lnSpcReduction="10000"/>
          </a:bodyPr>
          <a:lstStyle/>
          <a:p>
            <a:r>
              <a:rPr lang="en-US" dirty="0"/>
              <a:t>Mar 20XX</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a:lstStyle/>
          <a:p>
            <a:r>
              <a:rPr lang="en-US" dirty="0"/>
              <a:t>Release the product to the general public and monitor press release and social media accounts</a:t>
            </a:r>
          </a:p>
        </p:txBody>
      </p:sp>
      <p:sp>
        <p:nvSpPr>
          <p:cNvPr id="26" name="Text Placeholder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a:normAutofit lnSpcReduction="10000"/>
          </a:bodyPr>
          <a:lstStyle/>
          <a:p>
            <a:r>
              <a:rPr lang="en-US" dirty="0"/>
              <a:t>Oct 20XX</a:t>
            </a:r>
          </a:p>
        </p:txBody>
      </p:sp>
      <p:sp>
        <p:nvSpPr>
          <p:cNvPr id="27" name="Text Placeholder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a:normAutofit/>
          </a:bodyPr>
          <a:lstStyle/>
          <a:p>
            <a:r>
              <a:rPr lang="en-US" dirty="0"/>
              <a:t>Gather feedback and adjust product design as necessary</a:t>
            </a:r>
          </a:p>
          <a:p>
            <a:endParaRPr lang="en-US" dirty="0"/>
          </a:p>
        </p:txBody>
      </p:sp>
      <p:sp>
        <p:nvSpPr>
          <p:cNvPr id="4" name="Date Placeholder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13</a:t>
            </a:fld>
            <a:endParaRPr lang="en-US" dirty="0"/>
          </a:p>
        </p:txBody>
      </p:sp>
    </p:spTree>
    <p:extLst>
      <p:ext uri="{BB962C8B-B14F-4D97-AF65-F5344CB8AC3E}">
        <p14:creationId xmlns:p14="http://schemas.microsoft.com/office/powerpoint/2010/main" val="1472106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a:lstStyle/>
          <a:p>
            <a:r>
              <a:rPr lang="en-US" dirty="0"/>
              <a:t>TRACTION</a:t>
            </a:r>
          </a:p>
        </p:txBody>
      </p:sp>
      <p:sp>
        <p:nvSpPr>
          <p:cNvPr id="75" name="Text Placeholder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a:lstStyle/>
          <a:p>
            <a:r>
              <a:rPr lang="en-US" dirty="0"/>
              <a:t>Forecasting for success</a:t>
            </a:r>
          </a:p>
        </p:txBody>
      </p:sp>
      <p:graphicFrame>
        <p:nvGraphicFramePr>
          <p:cNvPr id="53" name="Table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2246906401"/>
              </p:ext>
            </p:extLst>
          </p:nvPr>
        </p:nvGraphicFramePr>
        <p:xfrm>
          <a:off x="838200" y="2286000"/>
          <a:ext cx="6099051" cy="3503684"/>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a:r>
                        <a:rPr lang="en-US" sz="1400" b="0" cap="all" spc="150" baseline="0" dirty="0">
                          <a:solidFill>
                            <a:schemeClr val="tx1">
                              <a:lumMod val="75000"/>
                              <a:lumOff val="25000"/>
                            </a:schemeClr>
                          </a:solidFill>
                          <a:latin typeface="+mj-lt"/>
                        </a:rPr>
                        <a:t>Key Metrics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723065677"/>
                  </a:ext>
                </a:extLst>
              </a:tr>
              <a:tr h="638982">
                <a:tc>
                  <a:txBody>
                    <a:bodyPr/>
                    <a:lstStyle/>
                    <a:p>
                      <a:pPr algn="ctr"/>
                      <a:endParaRPr lang="en-US" sz="1200" dirty="0">
                        <a:solidFill>
                          <a:schemeClr val="tx1">
                            <a:lumMod val="75000"/>
                            <a:lumOff val="25000"/>
                          </a:schemeClr>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Clients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Orders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Gross revenue</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Net revenue</a:t>
                      </a:r>
                      <a:endParaRPr lang="ru-RU" sz="1200" kern="120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1100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$7,000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$16,000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$25,000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$40,000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14</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871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a:lstStyle/>
          <a:p>
            <a:r>
              <a:rPr lang="en-US" dirty="0"/>
              <a:t>TWO-YEAR ACTION PLAN</a:t>
            </a:r>
          </a:p>
        </p:txBody>
      </p:sp>
      <p:sp>
        <p:nvSpPr>
          <p:cNvPr id="110" name="Text Placeholder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DRAFT BLUEPRINTS</a:t>
            </a:r>
            <a:endParaRPr lang="en-US" sz="1100" dirty="0"/>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GATHER FEEDBACK</a:t>
            </a:r>
            <a:endParaRPr lang="en-US" sz="1100" dirty="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DELIVER TO CLIENT</a:t>
            </a:r>
            <a:endParaRPr lang="en-US" sz="1100" dirty="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a:normAutofit/>
          </a:bodyPr>
          <a:lstStyle/>
          <a:p>
            <a:r>
              <a:rPr lang="en-US" dirty="0"/>
              <a:t>20XX</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a:normAutofit fontScale="85000" lnSpcReduction="20000"/>
          </a:bodyPr>
          <a:lstStyle/>
          <a:p>
            <a:r>
              <a:rPr lang="en-US" dirty="0"/>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a:normAutofit fontScale="85000" lnSpcReduction="20000"/>
          </a:bodyPr>
          <a:lstStyle/>
          <a:p>
            <a:r>
              <a:rPr lang="en-US" dirty="0"/>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a:normAutofit fontScale="85000" lnSpcReduction="20000"/>
          </a:bodyPr>
          <a:lstStyle/>
          <a:p>
            <a:r>
              <a:rPr lang="en-US" dirty="0"/>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a:normAutofit fontScale="85000" lnSpcReduction="20000"/>
          </a:bodyPr>
          <a:lstStyle/>
          <a:p>
            <a:r>
              <a:rPr lang="en-US" dirty="0"/>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a:normAutofit fontScale="85000" lnSpcReduction="20000"/>
          </a:bodyPr>
          <a:lstStyle/>
          <a:p>
            <a:r>
              <a:rPr lang="en-US" dirty="0"/>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a:normAutofit fontScale="85000" lnSpcReduction="20000"/>
          </a:bodyPr>
          <a:lstStyle/>
          <a:p>
            <a:r>
              <a:rPr lang="en-US" dirty="0"/>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a:normAutofit fontScale="85000" lnSpcReduction="20000"/>
          </a:bodyPr>
          <a:lstStyle/>
          <a:p>
            <a:r>
              <a:rPr lang="en-US" dirty="0"/>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a:normAutofit fontScale="85000" lnSpcReduction="20000"/>
          </a:bodyPr>
          <a:lstStyle/>
          <a:p>
            <a:r>
              <a:rPr lang="en-US" dirty="0"/>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a:normAutofit fontScale="85000" lnSpcReduction="20000"/>
          </a:bodyPr>
          <a:lstStyle/>
          <a:p>
            <a:r>
              <a:rPr lang="en-US" dirty="0"/>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a:normAutofit fontScale="85000" lnSpcReduction="20000"/>
          </a:bodyPr>
          <a:lstStyle/>
          <a:p>
            <a:r>
              <a:rPr lang="en-US" dirty="0"/>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a:normAutofit fontScale="85000" lnSpcReduction="20000"/>
          </a:bodyPr>
          <a:lstStyle/>
          <a:p>
            <a:r>
              <a:rPr lang="en-US" dirty="0"/>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a:normAutofit fontScale="85000" lnSpcReduction="20000"/>
          </a:bodyPr>
          <a:lstStyle/>
          <a:p>
            <a:r>
              <a:rPr lang="en-US" dirty="0"/>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a:normAutofit/>
          </a:bodyPr>
          <a:lstStyle/>
          <a:p>
            <a:r>
              <a:rPr lang="en-US" dirty="0"/>
              <a:t>20XX</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a:normAutofit fontScale="85000" lnSpcReduction="20000"/>
          </a:bodyPr>
          <a:lstStyle/>
          <a:p>
            <a:r>
              <a:rPr lang="en-US" dirty="0"/>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a:normAutofit fontScale="85000" lnSpcReduction="20000"/>
          </a:bodyPr>
          <a:lstStyle/>
          <a:p>
            <a:r>
              <a:rPr lang="en-US" dirty="0"/>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a:normAutofit fontScale="85000" lnSpcReduction="20000"/>
          </a:bodyPr>
          <a:lstStyle/>
          <a:p>
            <a:r>
              <a:rPr lang="en-US" dirty="0"/>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a:normAutofit fontScale="85000" lnSpcReduction="20000"/>
          </a:bodyPr>
          <a:lstStyle/>
          <a:p>
            <a:r>
              <a:rPr lang="en-US" dirty="0"/>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a:normAutofit fontScale="85000" lnSpcReduction="20000"/>
          </a:bodyPr>
          <a:lstStyle/>
          <a:p>
            <a:r>
              <a:rPr lang="en-US" dirty="0"/>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a:normAutofit fontScale="85000" lnSpcReduction="20000"/>
          </a:bodyPr>
          <a:lstStyle/>
          <a:p>
            <a:r>
              <a:rPr lang="en-US" dirty="0"/>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a:normAutofit fontScale="85000" lnSpcReduction="20000"/>
          </a:bodyPr>
          <a:lstStyle/>
          <a:p>
            <a:r>
              <a:rPr lang="en-US" dirty="0"/>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a:normAutofit fontScale="85000" lnSpcReduction="20000"/>
          </a:bodyPr>
          <a:lstStyle/>
          <a:p>
            <a:r>
              <a:rPr lang="en-US" dirty="0"/>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a:normAutofit fontScale="85000" lnSpcReduction="20000"/>
          </a:bodyPr>
          <a:lstStyle/>
          <a:p>
            <a:r>
              <a:rPr lang="en-US" dirty="0"/>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a:normAutofit fontScale="85000" lnSpcReduction="20000"/>
          </a:bodyPr>
          <a:lstStyle/>
          <a:p>
            <a:r>
              <a:rPr lang="en-US" dirty="0"/>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a:normAutofit fontScale="85000" lnSpcReduction="20000"/>
          </a:bodyPr>
          <a:lstStyle/>
          <a:p>
            <a:r>
              <a:rPr lang="en-US" dirty="0"/>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a:normAutofit fontScale="85000" lnSpcReduction="20000"/>
          </a:bodyPr>
          <a:lstStyle/>
          <a:p>
            <a:r>
              <a:rPr lang="en-US" dirty="0"/>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1259117" y="5206365"/>
            <a:ext cx="2057804" cy="5619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RUN FOCUS GROUPS</a:t>
            </a:r>
            <a:endParaRPr lang="en-US" sz="1100" dirty="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TEST DESIGN</a:t>
            </a:r>
            <a:endParaRPr lang="en-US" sz="1100" dirty="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LAUNCH DESIGN</a:t>
            </a:r>
            <a:endParaRPr lang="en-US" sz="1100" dirty="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Date Placeholder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15</a:t>
            </a:fld>
            <a:endParaRPr lang="en-US" dirty="0"/>
          </a:p>
        </p:txBody>
      </p:sp>
    </p:spTree>
    <p:extLst>
      <p:ext uri="{BB962C8B-B14F-4D97-AF65-F5344CB8AC3E}">
        <p14:creationId xmlns:p14="http://schemas.microsoft.com/office/powerpoint/2010/main" val="3084972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anchor="ctr">
            <a:normAutofit/>
          </a:bodyPr>
          <a:lstStyle/>
          <a:p>
            <a:r>
              <a:rPr lang="en-US" dirty="0"/>
              <a:t>FINANCIALS</a:t>
            </a:r>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16</a:t>
            </a:fld>
            <a:endParaRPr lang="en-US" dirty="0"/>
          </a:p>
        </p:txBody>
      </p:sp>
      <p:graphicFrame>
        <p:nvGraphicFramePr>
          <p:cNvPr id="17" name="Table 9">
            <a:extLst>
              <a:ext uri="{FF2B5EF4-FFF2-40B4-BE49-F238E27FC236}">
                <a16:creationId xmlns:a16="http://schemas.microsoft.com/office/drawing/2014/main" id="{D6E90A56-AF21-45DC-A08C-27875260C7CB}"/>
              </a:ext>
            </a:extLst>
          </p:cNvPr>
          <p:cNvGraphicFramePr>
            <a:graphicFrameLocks noGrp="1"/>
          </p:cNvGraphicFramePr>
          <p:nvPr>
            <p:ph sz="quarter" idx="16"/>
            <p:extLst>
              <p:ext uri="{D42A27DB-BD31-4B8C-83A1-F6EECF244321}">
                <p14:modId xmlns:p14="http://schemas.microsoft.com/office/powerpoint/2010/main" val="1922015435"/>
              </p:ext>
            </p:extLst>
          </p:nvPr>
        </p:nvGraphicFramePr>
        <p:xfrm>
          <a:off x="838200" y="1825625"/>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fontAlgn="b"/>
                      <a:endParaRPr lang="en-US" sz="1200" b="0" i="0" u="none" strike="noStrike" dirty="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1</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2</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3</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l" fontAlgn="b"/>
                      <a:endParaRPr lang="en-US" sz="1200" b="0"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140773105"/>
                  </a:ext>
                </a:extLst>
              </a:tr>
              <a:tr h="284706">
                <a:tc>
                  <a:txBody>
                    <a:bodyPr/>
                    <a:lstStyle/>
                    <a:p>
                      <a:pPr algn="l" fontAlgn="b"/>
                      <a:r>
                        <a:rPr lang="en-US" sz="1200" b="0" i="0" u="none" strike="noStrike" dirty="0">
                          <a:solidFill>
                            <a:schemeClr val="tx1"/>
                          </a:solidFill>
                          <a:effectLst/>
                          <a:latin typeface="+mn-lt"/>
                        </a:rPr>
                        <a:t>INCOME</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fontAlgn="b"/>
                      <a:r>
                        <a:rPr lang="en-US" sz="1200" b="0" u="none" strike="noStrike" dirty="0">
                          <a:solidFill>
                            <a:schemeClr val="tx1"/>
                          </a:solidFill>
                          <a:effectLst/>
                        </a:rPr>
                        <a:t>Users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fontAlgn="b"/>
                      <a:r>
                        <a:rPr lang="en-US" sz="1200" b="0" u="none" strike="noStrike" dirty="0">
                          <a:solidFill>
                            <a:schemeClr val="tx1"/>
                          </a:solidFill>
                          <a:effectLst/>
                        </a:rPr>
                        <a:t>Sales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fontAlgn="b"/>
                      <a:r>
                        <a:rPr lang="en-US" sz="1200" b="0" u="none" strike="noStrike" dirty="0">
                          <a:solidFill>
                            <a:schemeClr val="tx1"/>
                          </a:solidFill>
                          <a:effectLst/>
                        </a:rPr>
                        <a:t>Average price per sale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75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80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fontAlgn="b"/>
                      <a:r>
                        <a:rPr lang="en-US" sz="1200" b="0" u="none" strike="noStrike" dirty="0">
                          <a:solidFill>
                            <a:schemeClr val="tx1"/>
                          </a:solidFill>
                          <a:effectLst/>
                        </a:rPr>
                        <a:t>Revenue @ 15%</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48,000,000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fontAlgn="b"/>
                      <a:r>
                        <a:rPr lang="en-US" sz="1200" b="1" u="none" strike="noStrike" dirty="0">
                          <a:solidFill>
                            <a:schemeClr val="tx1"/>
                          </a:solidFill>
                          <a:effectLst/>
                        </a:rPr>
                        <a:t>GROSS PROFIT</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5,625,000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48,000,000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216,000,000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fontAlgn="b"/>
                      <a:r>
                        <a:rPr lang="en-US" sz="1200" b="0" u="none" strike="noStrike" dirty="0">
                          <a:solidFill>
                            <a:schemeClr val="tx1"/>
                          </a:solidFill>
                          <a:effectLst/>
                        </a:rPr>
                        <a:t>Expenses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Sales &amp; marketing</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38,400,000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151,200,000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70%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Customer service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1,687,500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10%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Product development</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10,800,000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Research</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281,250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4,320,000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2%</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fontAlgn="b"/>
                      <a:r>
                        <a:rPr lang="en-US" sz="1200" b="1" u="none" strike="noStrike" dirty="0">
                          <a:solidFill>
                            <a:schemeClr val="tx1"/>
                          </a:solidFill>
                          <a:effectLst/>
                        </a:rPr>
                        <a:t>TOTAL EXPENSES</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7,593,750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52,800,000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187,920,000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Tree>
    <p:extLst>
      <p:ext uri="{BB962C8B-B14F-4D97-AF65-F5344CB8AC3E}">
        <p14:creationId xmlns:p14="http://schemas.microsoft.com/office/powerpoint/2010/main" val="566997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a:t>
            </a:r>
          </a:p>
        </p:txBody>
      </p:sp>
      <p:pic>
        <p:nvPicPr>
          <p:cNvPr id="26" name="Picture Placeholder 25" descr="Team member headshot">
            <a:extLst>
              <a:ext uri="{FF2B5EF4-FFF2-40B4-BE49-F238E27FC236}">
                <a16:creationId xmlns:a16="http://schemas.microsoft.com/office/drawing/2014/main" id="{E287A61C-B7FB-4B69-97E7-7B7AFC8A5D33}"/>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487181" y="2886074"/>
            <a:ext cx="1845511" cy="1845511"/>
          </a:xfrm>
        </p:spPr>
      </p:pic>
      <p:pic>
        <p:nvPicPr>
          <p:cNvPr id="47" name="Picture Placeholder 46" descr="Team member headshot">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3836914" y="2886074"/>
            <a:ext cx="1845511" cy="1845511"/>
          </a:xfrm>
        </p:spPr>
      </p:pic>
      <p:pic>
        <p:nvPicPr>
          <p:cNvPr id="45" name="Picture Placeholder 44" descr="Team member headshot">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327578" y="2886074"/>
            <a:ext cx="1845511" cy="1845511"/>
          </a:xfrm>
        </p:spPr>
      </p:pic>
      <p:pic>
        <p:nvPicPr>
          <p:cNvPr id="43" name="Picture Placeholder 42" descr="Team member headshot">
            <a:extLst>
              <a:ext uri="{FF2B5EF4-FFF2-40B4-BE49-F238E27FC236}">
                <a16:creationId xmlns:a16="http://schemas.microsoft.com/office/drawing/2014/main" id="{F328CD15-EA0E-49AD-A3C6-5798A372AA53}"/>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8747458" y="2886074"/>
            <a:ext cx="1845511" cy="1845511"/>
          </a:xfrm>
        </p:spPr>
      </p:pic>
      <p:sp>
        <p:nvSpPr>
          <p:cNvPr id="24" name="Text Placeholder 23">
            <a:extLst>
              <a:ext uri="{FF2B5EF4-FFF2-40B4-BE49-F238E27FC236}">
                <a16:creationId xmlns:a16="http://schemas.microsoft.com/office/drawing/2014/main" id="{7BAD1FFF-8B97-4CD1-85E7-B7738EAD28CD}"/>
              </a:ext>
            </a:extLst>
          </p:cNvPr>
          <p:cNvSpPr>
            <a:spLocks noGrp="1"/>
          </p:cNvSpPr>
          <p:nvPr>
            <p:ph type="body" idx="1"/>
          </p:nvPr>
        </p:nvSpPr>
        <p:spPr>
          <a:xfrm>
            <a:off x="1343248" y="5084524"/>
            <a:ext cx="2123743" cy="343061"/>
          </a:xfrm>
        </p:spPr>
        <p:txBody>
          <a:bodyPr/>
          <a:lstStyle/>
          <a:p>
            <a:r>
              <a:rPr lang="en-US" dirty="0"/>
              <a:t>TAKUMA HAYASHI​</a:t>
            </a:r>
          </a:p>
        </p:txBody>
      </p:sp>
      <p:sp>
        <p:nvSpPr>
          <p:cNvPr id="33" name="Text Placeholder 32">
            <a:extLst>
              <a:ext uri="{FF2B5EF4-FFF2-40B4-BE49-F238E27FC236}">
                <a16:creationId xmlns:a16="http://schemas.microsoft.com/office/drawing/2014/main" id="{10C8C8C1-99D8-4034-A628-DECEB703BA1D}"/>
              </a:ext>
            </a:extLst>
          </p:cNvPr>
          <p:cNvSpPr>
            <a:spLocks noGrp="1"/>
          </p:cNvSpPr>
          <p:nvPr>
            <p:ph type="body" idx="18"/>
          </p:nvPr>
        </p:nvSpPr>
        <p:spPr>
          <a:xfrm>
            <a:off x="3692980" y="5099206"/>
            <a:ext cx="2135755" cy="343061"/>
          </a:xfrm>
        </p:spPr>
        <p:txBody>
          <a:bodyPr/>
          <a:lstStyle/>
          <a:p>
            <a:r>
              <a:rPr lang="en-US" dirty="0"/>
              <a:t>MIRJAM NILSSON​</a:t>
            </a:r>
          </a:p>
        </p:txBody>
      </p:sp>
      <p:sp>
        <p:nvSpPr>
          <p:cNvPr id="34" name="Text Placeholder 33">
            <a:extLst>
              <a:ext uri="{FF2B5EF4-FFF2-40B4-BE49-F238E27FC236}">
                <a16:creationId xmlns:a16="http://schemas.microsoft.com/office/drawing/2014/main" id="{08CA58D6-00FD-4D81-A0F6-215C4D558912}"/>
              </a:ext>
            </a:extLst>
          </p:cNvPr>
          <p:cNvSpPr>
            <a:spLocks noGrp="1"/>
          </p:cNvSpPr>
          <p:nvPr>
            <p:ph type="body" idx="19"/>
          </p:nvPr>
        </p:nvSpPr>
        <p:spPr>
          <a:xfrm>
            <a:off x="6183644" y="5099206"/>
            <a:ext cx="2123743" cy="343061"/>
          </a:xfrm>
        </p:spPr>
        <p:txBody>
          <a:bodyPr/>
          <a:lstStyle/>
          <a:p>
            <a:r>
              <a:rPr lang="en-US" dirty="0"/>
              <a:t>FLORA BERGGREN​</a:t>
            </a:r>
          </a:p>
        </p:txBody>
      </p:sp>
      <p:sp>
        <p:nvSpPr>
          <p:cNvPr id="35" name="Text Placeholder 34">
            <a:extLst>
              <a:ext uri="{FF2B5EF4-FFF2-40B4-BE49-F238E27FC236}">
                <a16:creationId xmlns:a16="http://schemas.microsoft.com/office/drawing/2014/main" id="{60D37431-6A3A-47F6-A367-B5ADCF66AE37}"/>
              </a:ext>
            </a:extLst>
          </p:cNvPr>
          <p:cNvSpPr>
            <a:spLocks noGrp="1"/>
          </p:cNvSpPr>
          <p:nvPr>
            <p:ph type="body" idx="20"/>
          </p:nvPr>
        </p:nvSpPr>
        <p:spPr>
          <a:xfrm>
            <a:off x="8603525" y="5084524"/>
            <a:ext cx="2123742" cy="343061"/>
          </a:xfrm>
        </p:spPr>
        <p:txBody>
          <a:bodyPr/>
          <a:lstStyle/>
          <a:p>
            <a:r>
              <a:rPr lang="en-US" dirty="0"/>
              <a:t>RAJESH SANTOSHI​</a:t>
            </a:r>
          </a:p>
        </p:txBody>
      </p:sp>
      <p:sp>
        <p:nvSpPr>
          <p:cNvPr id="36" name="Text Placeholder 35">
            <a:extLst>
              <a:ext uri="{FF2B5EF4-FFF2-40B4-BE49-F238E27FC236}">
                <a16:creationId xmlns:a16="http://schemas.microsoft.com/office/drawing/2014/main" id="{B76FA389-A54D-4E4B-81DA-DBA175D78FEC}"/>
              </a:ext>
            </a:extLst>
          </p:cNvPr>
          <p:cNvSpPr>
            <a:spLocks noGrp="1"/>
          </p:cNvSpPr>
          <p:nvPr>
            <p:ph type="body" idx="21"/>
          </p:nvPr>
        </p:nvSpPr>
        <p:spPr>
          <a:xfrm>
            <a:off x="1487181" y="5464114"/>
            <a:ext cx="1845511" cy="343061"/>
          </a:xfrm>
        </p:spPr>
        <p:txBody>
          <a:bodyPr/>
          <a:lstStyle/>
          <a:p>
            <a:r>
              <a:rPr lang="en-US" dirty="0"/>
              <a:t>President</a:t>
            </a:r>
          </a:p>
        </p:txBody>
      </p:sp>
      <p:sp>
        <p:nvSpPr>
          <p:cNvPr id="37" name="Text Placeholder 36">
            <a:extLst>
              <a:ext uri="{FF2B5EF4-FFF2-40B4-BE49-F238E27FC236}">
                <a16:creationId xmlns:a16="http://schemas.microsoft.com/office/drawing/2014/main" id="{65786675-BFC6-4743-BFD3-D64691F771D8}"/>
              </a:ext>
            </a:extLst>
          </p:cNvPr>
          <p:cNvSpPr>
            <a:spLocks noGrp="1"/>
          </p:cNvSpPr>
          <p:nvPr>
            <p:ph type="body" idx="22"/>
          </p:nvPr>
        </p:nvSpPr>
        <p:spPr>
          <a:xfrm>
            <a:off x="3836913" y="5478796"/>
            <a:ext cx="1855949" cy="343061"/>
          </a:xfrm>
        </p:spPr>
        <p:txBody>
          <a:bodyPr/>
          <a:lstStyle/>
          <a:p>
            <a:r>
              <a:rPr lang="en-US" dirty="0"/>
              <a:t>Chief Executive Officer</a:t>
            </a:r>
          </a:p>
        </p:txBody>
      </p:sp>
      <p:sp>
        <p:nvSpPr>
          <p:cNvPr id="38" name="Text Placeholder 37">
            <a:extLst>
              <a:ext uri="{FF2B5EF4-FFF2-40B4-BE49-F238E27FC236}">
                <a16:creationId xmlns:a16="http://schemas.microsoft.com/office/drawing/2014/main" id="{97062F49-F468-4EA6-B6BF-94BFF89FDCB7}"/>
              </a:ext>
            </a:extLst>
          </p:cNvPr>
          <p:cNvSpPr>
            <a:spLocks noGrp="1"/>
          </p:cNvSpPr>
          <p:nvPr>
            <p:ph type="body" idx="23"/>
          </p:nvPr>
        </p:nvSpPr>
        <p:spPr>
          <a:xfrm>
            <a:off x="6327577" y="5478796"/>
            <a:ext cx="1845511" cy="343061"/>
          </a:xfrm>
        </p:spPr>
        <p:txBody>
          <a:bodyPr/>
          <a:lstStyle/>
          <a:p>
            <a:r>
              <a:rPr lang="en-US" dirty="0"/>
              <a:t>Chief Operations Officer</a:t>
            </a:r>
          </a:p>
          <a:p>
            <a:endParaRPr lang="en-US" dirty="0"/>
          </a:p>
        </p:txBody>
      </p:sp>
      <p:sp>
        <p:nvSpPr>
          <p:cNvPr id="39" name="Text Placeholder 38">
            <a:extLst>
              <a:ext uri="{FF2B5EF4-FFF2-40B4-BE49-F238E27FC236}">
                <a16:creationId xmlns:a16="http://schemas.microsoft.com/office/drawing/2014/main" id="{59D9F00A-8CF0-41E8-9BB6-3B8ECDA55D49}"/>
              </a:ext>
            </a:extLst>
          </p:cNvPr>
          <p:cNvSpPr>
            <a:spLocks noGrp="1"/>
          </p:cNvSpPr>
          <p:nvPr>
            <p:ph type="body" idx="24"/>
          </p:nvPr>
        </p:nvSpPr>
        <p:spPr>
          <a:xfrm>
            <a:off x="8747458" y="5464114"/>
            <a:ext cx="1845510" cy="343061"/>
          </a:xfrm>
        </p:spPr>
        <p:txBody>
          <a:bodyPr/>
          <a:lstStyle/>
          <a:p>
            <a:r>
              <a:rPr lang="en-US" dirty="0"/>
              <a:t>VP Marketing</a:t>
            </a:r>
          </a:p>
          <a:p>
            <a:endParaRPr lang="en-US" dirty="0"/>
          </a:p>
        </p:txBody>
      </p:sp>
      <p:sp>
        <p:nvSpPr>
          <p:cNvPr id="3" name="Date Placeholder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17</a:t>
            </a:fld>
            <a:endParaRPr lang="en-US" dirty="0"/>
          </a:p>
        </p:txBody>
      </p:sp>
    </p:spTree>
    <p:extLst>
      <p:ext uri="{BB962C8B-B14F-4D97-AF65-F5344CB8AC3E}">
        <p14:creationId xmlns:p14="http://schemas.microsoft.com/office/powerpoint/2010/main" val="3477453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  </a:t>
            </a:r>
          </a:p>
        </p:txBody>
      </p:sp>
      <p:pic>
        <p:nvPicPr>
          <p:cNvPr id="38" name="Picture Placeholder 37" descr="Team member headshot">
            <a:extLst>
              <a:ext uri="{FF2B5EF4-FFF2-40B4-BE49-F238E27FC236}">
                <a16:creationId xmlns:a16="http://schemas.microsoft.com/office/drawing/2014/main" id="{6E64DC71-C9CE-47FF-A3B6-597A9B09EC98}"/>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877176" y="2428875"/>
            <a:ext cx="1066800" cy="1066800"/>
          </a:xfrm>
        </p:spPr>
      </p:pic>
      <p:pic>
        <p:nvPicPr>
          <p:cNvPr id="42" name="Picture Placeholder 41" descr="Team member headshot">
            <a:extLst>
              <a:ext uri="{FF2B5EF4-FFF2-40B4-BE49-F238E27FC236}">
                <a16:creationId xmlns:a16="http://schemas.microsoft.com/office/drawing/2014/main" id="{03BE9C30-CAE7-4AE5-8722-B20E200AC048}"/>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4226270" y="2428875"/>
            <a:ext cx="1066800" cy="1066800"/>
          </a:xfrm>
        </p:spPr>
      </p:pic>
      <p:pic>
        <p:nvPicPr>
          <p:cNvPr id="46" name="Picture Placeholder 45" descr="Team member headshot">
            <a:extLst>
              <a:ext uri="{FF2B5EF4-FFF2-40B4-BE49-F238E27FC236}">
                <a16:creationId xmlns:a16="http://schemas.microsoft.com/office/drawing/2014/main" id="{F8B9EE09-9F4E-47F5-82E5-A135C37A6E26}"/>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716934" y="2428875"/>
            <a:ext cx="1066800" cy="1066800"/>
          </a:xfrm>
        </p:spPr>
      </p:pic>
      <p:pic>
        <p:nvPicPr>
          <p:cNvPr id="54" name="Picture Placeholder 53" descr="Team member headshot">
            <a:extLst>
              <a:ext uri="{FF2B5EF4-FFF2-40B4-BE49-F238E27FC236}">
                <a16:creationId xmlns:a16="http://schemas.microsoft.com/office/drawing/2014/main" id="{B789A13E-52C8-4E94-89B2-D51A0739F00A}"/>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9136814" y="2428875"/>
            <a:ext cx="1066800" cy="1066800"/>
          </a:xfrm>
        </p:spPr>
      </p:pic>
      <p:sp>
        <p:nvSpPr>
          <p:cNvPr id="36" name="Text Placeholder 35">
            <a:extLst>
              <a:ext uri="{FF2B5EF4-FFF2-40B4-BE49-F238E27FC236}">
                <a16:creationId xmlns:a16="http://schemas.microsoft.com/office/drawing/2014/main" id="{23BA8AAF-B08B-441B-AAF3-590A568329BF}"/>
              </a:ext>
            </a:extLst>
          </p:cNvPr>
          <p:cNvSpPr>
            <a:spLocks noGrp="1"/>
          </p:cNvSpPr>
          <p:nvPr>
            <p:ph type="body" idx="1"/>
          </p:nvPr>
        </p:nvSpPr>
        <p:spPr>
          <a:xfrm>
            <a:off x="1500168" y="3654378"/>
            <a:ext cx="1828800" cy="343061"/>
          </a:xfrm>
        </p:spPr>
        <p:txBody>
          <a:bodyPr/>
          <a:lstStyle/>
          <a:p>
            <a:r>
              <a:rPr lang="en-US" dirty="0"/>
              <a:t>TAKUMA HAYASHI</a:t>
            </a:r>
          </a:p>
          <a:p>
            <a:endParaRPr lang="en-US" dirty="0"/>
          </a:p>
        </p:txBody>
      </p:sp>
      <p:sp>
        <p:nvSpPr>
          <p:cNvPr id="52" name="Text Placeholder 51">
            <a:extLst>
              <a:ext uri="{FF2B5EF4-FFF2-40B4-BE49-F238E27FC236}">
                <a16:creationId xmlns:a16="http://schemas.microsoft.com/office/drawing/2014/main" id="{E07741A2-243F-4086-945C-BCA1F24E6DB5}"/>
              </a:ext>
            </a:extLst>
          </p:cNvPr>
          <p:cNvSpPr>
            <a:spLocks noGrp="1"/>
          </p:cNvSpPr>
          <p:nvPr>
            <p:ph type="body" idx="21"/>
          </p:nvPr>
        </p:nvSpPr>
        <p:spPr>
          <a:xfrm>
            <a:off x="1390120" y="3782039"/>
            <a:ext cx="2057400" cy="343061"/>
          </a:xfrm>
        </p:spPr>
        <p:txBody>
          <a:bodyPr/>
          <a:lstStyle/>
          <a:p>
            <a:r>
              <a:rPr lang="en-US" dirty="0"/>
              <a:t>President</a:t>
            </a:r>
          </a:p>
        </p:txBody>
      </p:sp>
      <p:sp>
        <p:nvSpPr>
          <p:cNvPr id="49" name="Text Placeholder 48">
            <a:extLst>
              <a:ext uri="{FF2B5EF4-FFF2-40B4-BE49-F238E27FC236}">
                <a16:creationId xmlns:a16="http://schemas.microsoft.com/office/drawing/2014/main" id="{27CB5CB7-B854-4F48-954C-5CF86CC9146D}"/>
              </a:ext>
            </a:extLst>
          </p:cNvPr>
          <p:cNvSpPr>
            <a:spLocks noGrp="1"/>
          </p:cNvSpPr>
          <p:nvPr>
            <p:ph type="body" idx="18"/>
          </p:nvPr>
        </p:nvSpPr>
        <p:spPr>
          <a:xfrm>
            <a:off x="3849262" y="3669060"/>
            <a:ext cx="1828800" cy="343061"/>
          </a:xfrm>
        </p:spPr>
        <p:txBody>
          <a:bodyPr/>
          <a:lstStyle/>
          <a:p>
            <a:r>
              <a:rPr lang="en-US" dirty="0"/>
              <a:t>MIRJAM NILSSON​</a:t>
            </a:r>
          </a:p>
        </p:txBody>
      </p:sp>
      <p:sp>
        <p:nvSpPr>
          <p:cNvPr id="61" name="Text Placeholder 60">
            <a:extLst>
              <a:ext uri="{FF2B5EF4-FFF2-40B4-BE49-F238E27FC236}">
                <a16:creationId xmlns:a16="http://schemas.microsoft.com/office/drawing/2014/main" id="{F1C860E6-FF87-419F-8B26-B8EA4D5F3D3D}"/>
              </a:ext>
            </a:extLst>
          </p:cNvPr>
          <p:cNvSpPr>
            <a:spLocks noGrp="1"/>
          </p:cNvSpPr>
          <p:nvPr>
            <p:ph type="body" idx="22"/>
          </p:nvPr>
        </p:nvSpPr>
        <p:spPr>
          <a:xfrm>
            <a:off x="3739214" y="3796721"/>
            <a:ext cx="2057400" cy="343061"/>
          </a:xfrm>
        </p:spPr>
        <p:txBody>
          <a:bodyPr/>
          <a:lstStyle/>
          <a:p>
            <a:r>
              <a:rPr lang="en-US" dirty="0"/>
              <a:t>Chief Executive Officer</a:t>
            </a:r>
          </a:p>
        </p:txBody>
      </p:sp>
      <p:sp>
        <p:nvSpPr>
          <p:cNvPr id="50" name="Text Placeholder 49">
            <a:extLst>
              <a:ext uri="{FF2B5EF4-FFF2-40B4-BE49-F238E27FC236}">
                <a16:creationId xmlns:a16="http://schemas.microsoft.com/office/drawing/2014/main" id="{540F887C-E8EB-4467-90FE-023D47FFB454}"/>
              </a:ext>
            </a:extLst>
          </p:cNvPr>
          <p:cNvSpPr>
            <a:spLocks noGrp="1"/>
          </p:cNvSpPr>
          <p:nvPr>
            <p:ph type="body" idx="19"/>
          </p:nvPr>
        </p:nvSpPr>
        <p:spPr>
          <a:xfrm>
            <a:off x="6339926" y="3669060"/>
            <a:ext cx="1828800" cy="343061"/>
          </a:xfrm>
        </p:spPr>
        <p:txBody>
          <a:bodyPr/>
          <a:lstStyle/>
          <a:p>
            <a:r>
              <a:rPr lang="en-US" dirty="0"/>
              <a:t>FLORA BERGGREN​</a:t>
            </a:r>
          </a:p>
          <a:p>
            <a:endParaRPr lang="en-US" dirty="0"/>
          </a:p>
        </p:txBody>
      </p:sp>
      <p:sp>
        <p:nvSpPr>
          <p:cNvPr id="62" name="Text Placeholder 61">
            <a:extLst>
              <a:ext uri="{FF2B5EF4-FFF2-40B4-BE49-F238E27FC236}">
                <a16:creationId xmlns:a16="http://schemas.microsoft.com/office/drawing/2014/main" id="{F1AF6C54-9939-432B-BBC2-5E0C0F8B2D8C}"/>
              </a:ext>
            </a:extLst>
          </p:cNvPr>
          <p:cNvSpPr>
            <a:spLocks noGrp="1"/>
          </p:cNvSpPr>
          <p:nvPr>
            <p:ph type="body" idx="23"/>
          </p:nvPr>
        </p:nvSpPr>
        <p:spPr>
          <a:xfrm>
            <a:off x="6217963" y="3796721"/>
            <a:ext cx="2057400" cy="343061"/>
          </a:xfrm>
        </p:spPr>
        <p:txBody>
          <a:bodyPr/>
          <a:lstStyle/>
          <a:p>
            <a:r>
              <a:rPr lang="en-US" dirty="0"/>
              <a:t>Chief Operations Officer</a:t>
            </a:r>
          </a:p>
        </p:txBody>
      </p:sp>
      <p:sp>
        <p:nvSpPr>
          <p:cNvPr id="51" name="Text Placeholder 50">
            <a:extLst>
              <a:ext uri="{FF2B5EF4-FFF2-40B4-BE49-F238E27FC236}">
                <a16:creationId xmlns:a16="http://schemas.microsoft.com/office/drawing/2014/main" id="{C1C77C5B-2A5F-4999-A5BF-F60EA88DE493}"/>
              </a:ext>
            </a:extLst>
          </p:cNvPr>
          <p:cNvSpPr>
            <a:spLocks noGrp="1"/>
          </p:cNvSpPr>
          <p:nvPr>
            <p:ph type="body" idx="20"/>
          </p:nvPr>
        </p:nvSpPr>
        <p:spPr>
          <a:xfrm>
            <a:off x="8759806" y="3654378"/>
            <a:ext cx="1828800" cy="343061"/>
          </a:xfrm>
        </p:spPr>
        <p:txBody>
          <a:bodyPr/>
          <a:lstStyle/>
          <a:p>
            <a:r>
              <a:rPr lang="en-US" dirty="0"/>
              <a:t>RAJESH SANTOSHI</a:t>
            </a:r>
          </a:p>
        </p:txBody>
      </p:sp>
      <p:sp>
        <p:nvSpPr>
          <p:cNvPr id="63" name="Text Placeholder 62">
            <a:extLst>
              <a:ext uri="{FF2B5EF4-FFF2-40B4-BE49-F238E27FC236}">
                <a16:creationId xmlns:a16="http://schemas.microsoft.com/office/drawing/2014/main" id="{41797063-0A46-4FCE-86CB-FC66F997C5F4}"/>
              </a:ext>
            </a:extLst>
          </p:cNvPr>
          <p:cNvSpPr>
            <a:spLocks noGrp="1"/>
          </p:cNvSpPr>
          <p:nvPr>
            <p:ph type="body" idx="24"/>
          </p:nvPr>
        </p:nvSpPr>
        <p:spPr>
          <a:xfrm>
            <a:off x="8634432" y="3782039"/>
            <a:ext cx="2057400" cy="343061"/>
          </a:xfrm>
        </p:spPr>
        <p:txBody>
          <a:bodyPr/>
          <a:lstStyle/>
          <a:p>
            <a:r>
              <a:rPr lang="en-US" dirty="0"/>
              <a:t>VP Marketing</a:t>
            </a:r>
          </a:p>
        </p:txBody>
      </p:sp>
      <p:pic>
        <p:nvPicPr>
          <p:cNvPr id="58" name="Picture Placeholder 57" descr="Team member headshot">
            <a:extLst>
              <a:ext uri="{FF2B5EF4-FFF2-40B4-BE49-F238E27FC236}">
                <a16:creationId xmlns:a16="http://schemas.microsoft.com/office/drawing/2014/main" id="{67F12A1B-1645-4C97-AE80-CC96C4998E2E}"/>
              </a:ext>
            </a:extLst>
          </p:cNvPr>
          <p:cNvPicPr>
            <a:picLocks noGrp="1" noChangeAspect="1"/>
          </p:cNvPicPr>
          <p:nvPr>
            <p:ph type="pic" sz="quarter" idx="26"/>
          </p:nvPr>
        </p:nvPicPr>
        <p:blipFill rotWithShape="1">
          <a:blip r:embed="rId6">
            <a:extLst>
              <a:ext uri="{28A0092B-C50C-407E-A947-70E740481C1C}">
                <a14:useLocalDpi xmlns:a14="http://schemas.microsoft.com/office/drawing/2010/main" val="0"/>
              </a:ext>
            </a:extLst>
          </a:blip>
          <a:srcRect/>
          <a:stretch/>
        </p:blipFill>
        <p:spPr>
          <a:xfrm>
            <a:off x="1877176" y="4287711"/>
            <a:ext cx="1066800" cy="1066800"/>
          </a:xfrm>
        </p:spPr>
      </p:pic>
      <p:pic>
        <p:nvPicPr>
          <p:cNvPr id="66" name="Picture Placeholder 65" descr="Team member headshot">
            <a:extLst>
              <a:ext uri="{FF2B5EF4-FFF2-40B4-BE49-F238E27FC236}">
                <a16:creationId xmlns:a16="http://schemas.microsoft.com/office/drawing/2014/main" id="{448282B4-E477-4ECE-BC09-7EA9451D9AEE}"/>
              </a:ext>
            </a:extLst>
          </p:cNvPr>
          <p:cNvPicPr>
            <a:picLocks noGrp="1" noChangeAspect="1"/>
          </p:cNvPicPr>
          <p:nvPr>
            <p:ph type="pic" sz="quarter" idx="27"/>
          </p:nvPr>
        </p:nvPicPr>
        <p:blipFill rotWithShape="1">
          <a:blip r:embed="rId7">
            <a:extLst>
              <a:ext uri="{28A0092B-C50C-407E-A947-70E740481C1C}">
                <a14:useLocalDpi xmlns:a14="http://schemas.microsoft.com/office/drawing/2010/main" val="0"/>
              </a:ext>
            </a:extLst>
          </a:blip>
          <a:srcRect/>
          <a:stretch/>
        </p:blipFill>
        <p:spPr>
          <a:xfrm>
            <a:off x="4226270" y="4287711"/>
            <a:ext cx="1066800" cy="1066800"/>
          </a:xfrm>
        </p:spPr>
      </p:pic>
      <p:pic>
        <p:nvPicPr>
          <p:cNvPr id="78" name="Picture Placeholder 77" descr="Team member headshot">
            <a:extLst>
              <a:ext uri="{FF2B5EF4-FFF2-40B4-BE49-F238E27FC236}">
                <a16:creationId xmlns:a16="http://schemas.microsoft.com/office/drawing/2014/main" id="{15824874-C00E-4835-97F0-43C416DDCACC}"/>
              </a:ext>
            </a:extLst>
          </p:cNvPr>
          <p:cNvPicPr>
            <a:picLocks noGrp="1" noChangeAspect="1"/>
          </p:cNvPicPr>
          <p:nvPr>
            <p:ph type="pic" sz="quarter" idx="28"/>
          </p:nvPr>
        </p:nvPicPr>
        <p:blipFill rotWithShape="1">
          <a:blip r:embed="rId8">
            <a:extLst>
              <a:ext uri="{28A0092B-C50C-407E-A947-70E740481C1C}">
                <a14:useLocalDpi xmlns:a14="http://schemas.microsoft.com/office/drawing/2010/main" val="0"/>
              </a:ext>
            </a:extLst>
          </a:blip>
          <a:srcRect/>
          <a:stretch/>
        </p:blipFill>
        <p:spPr>
          <a:xfrm>
            <a:off x="6716934" y="4287711"/>
            <a:ext cx="1066800" cy="1066800"/>
          </a:xfrm>
        </p:spPr>
      </p:pic>
      <p:pic>
        <p:nvPicPr>
          <p:cNvPr id="83" name="Picture Placeholder 82" descr="Team member headshot">
            <a:extLst>
              <a:ext uri="{FF2B5EF4-FFF2-40B4-BE49-F238E27FC236}">
                <a16:creationId xmlns:a16="http://schemas.microsoft.com/office/drawing/2014/main" id="{96405252-7726-442E-9D15-755840A5AF27}"/>
              </a:ext>
            </a:extLst>
          </p:cNvPr>
          <p:cNvPicPr>
            <a:picLocks noGrp="1" noChangeAspect="1"/>
          </p:cNvPicPr>
          <p:nvPr>
            <p:ph type="pic" sz="quarter" idx="29"/>
          </p:nvPr>
        </p:nvPicPr>
        <p:blipFill rotWithShape="1">
          <a:blip r:embed="rId9">
            <a:extLst>
              <a:ext uri="{28A0092B-C50C-407E-A947-70E740481C1C}">
                <a14:useLocalDpi xmlns:a14="http://schemas.microsoft.com/office/drawing/2010/main" val="0"/>
              </a:ext>
            </a:extLst>
          </a:blip>
          <a:srcRect/>
          <a:stretch/>
        </p:blipFill>
        <p:spPr>
          <a:xfrm>
            <a:off x="9136814" y="4287711"/>
            <a:ext cx="1066800" cy="1066800"/>
          </a:xfrm>
        </p:spPr>
      </p:pic>
      <p:sp>
        <p:nvSpPr>
          <p:cNvPr id="64" name="Text Placeholder 63">
            <a:extLst>
              <a:ext uri="{FF2B5EF4-FFF2-40B4-BE49-F238E27FC236}">
                <a16:creationId xmlns:a16="http://schemas.microsoft.com/office/drawing/2014/main" id="{3ECD1D6F-7DAE-4DCC-BBB4-CD519379CDF6}"/>
              </a:ext>
            </a:extLst>
          </p:cNvPr>
          <p:cNvSpPr>
            <a:spLocks noGrp="1"/>
          </p:cNvSpPr>
          <p:nvPr>
            <p:ph type="body" idx="25"/>
          </p:nvPr>
        </p:nvSpPr>
        <p:spPr>
          <a:xfrm>
            <a:off x="1500168" y="5513214"/>
            <a:ext cx="1828800" cy="343061"/>
          </a:xfrm>
        </p:spPr>
        <p:txBody>
          <a:bodyPr/>
          <a:lstStyle/>
          <a:p>
            <a:r>
              <a:rPr lang="en-US" dirty="0"/>
              <a:t>GRAHAM BARNES</a:t>
            </a:r>
          </a:p>
          <a:p>
            <a:endParaRPr lang="en-US" dirty="0"/>
          </a:p>
        </p:txBody>
      </p:sp>
      <p:sp>
        <p:nvSpPr>
          <p:cNvPr id="72" name="Text Placeholder 71">
            <a:extLst>
              <a:ext uri="{FF2B5EF4-FFF2-40B4-BE49-F238E27FC236}">
                <a16:creationId xmlns:a16="http://schemas.microsoft.com/office/drawing/2014/main" id="{0420E7B5-7D79-437C-BC6E-11C9C9C73D12}"/>
              </a:ext>
            </a:extLst>
          </p:cNvPr>
          <p:cNvSpPr>
            <a:spLocks noGrp="1"/>
          </p:cNvSpPr>
          <p:nvPr>
            <p:ph type="body" idx="33"/>
          </p:nvPr>
        </p:nvSpPr>
        <p:spPr>
          <a:xfrm>
            <a:off x="1390120" y="5640875"/>
            <a:ext cx="2057400" cy="343061"/>
          </a:xfrm>
        </p:spPr>
        <p:txBody>
          <a:bodyPr/>
          <a:lstStyle/>
          <a:p>
            <a:r>
              <a:rPr lang="en-US" dirty="0"/>
              <a:t>VP Product</a:t>
            </a:r>
          </a:p>
        </p:txBody>
      </p:sp>
      <p:sp>
        <p:nvSpPr>
          <p:cNvPr id="69" name="Text Placeholder 68">
            <a:extLst>
              <a:ext uri="{FF2B5EF4-FFF2-40B4-BE49-F238E27FC236}">
                <a16:creationId xmlns:a16="http://schemas.microsoft.com/office/drawing/2014/main" id="{A5A9CD8D-31A9-4139-87B2-349EA8E14781}"/>
              </a:ext>
            </a:extLst>
          </p:cNvPr>
          <p:cNvSpPr>
            <a:spLocks noGrp="1"/>
          </p:cNvSpPr>
          <p:nvPr>
            <p:ph type="body" idx="30"/>
          </p:nvPr>
        </p:nvSpPr>
        <p:spPr>
          <a:xfrm>
            <a:off x="3849262" y="5527896"/>
            <a:ext cx="1828800" cy="343061"/>
          </a:xfrm>
        </p:spPr>
        <p:txBody>
          <a:bodyPr/>
          <a:lstStyle/>
          <a:p>
            <a:r>
              <a:rPr lang="en-US" dirty="0"/>
              <a:t>ROWAN MURPHY</a:t>
            </a:r>
          </a:p>
          <a:p>
            <a:endParaRPr lang="en-US" dirty="0"/>
          </a:p>
        </p:txBody>
      </p:sp>
      <p:sp>
        <p:nvSpPr>
          <p:cNvPr id="73" name="Text Placeholder 72">
            <a:extLst>
              <a:ext uri="{FF2B5EF4-FFF2-40B4-BE49-F238E27FC236}">
                <a16:creationId xmlns:a16="http://schemas.microsoft.com/office/drawing/2014/main" id="{E1FCDD58-01CD-47CF-AB15-A511E9D3612F}"/>
              </a:ext>
            </a:extLst>
          </p:cNvPr>
          <p:cNvSpPr>
            <a:spLocks noGrp="1"/>
          </p:cNvSpPr>
          <p:nvPr>
            <p:ph type="body" idx="34"/>
          </p:nvPr>
        </p:nvSpPr>
        <p:spPr>
          <a:xfrm>
            <a:off x="3739214" y="5655557"/>
            <a:ext cx="2057400" cy="343061"/>
          </a:xfrm>
        </p:spPr>
        <p:txBody>
          <a:bodyPr/>
          <a:lstStyle/>
          <a:p>
            <a:r>
              <a:rPr lang="en-US" dirty="0"/>
              <a:t>SEO Strategist</a:t>
            </a:r>
          </a:p>
        </p:txBody>
      </p:sp>
      <p:sp>
        <p:nvSpPr>
          <p:cNvPr id="70" name="Text Placeholder 69">
            <a:extLst>
              <a:ext uri="{FF2B5EF4-FFF2-40B4-BE49-F238E27FC236}">
                <a16:creationId xmlns:a16="http://schemas.microsoft.com/office/drawing/2014/main" id="{58753412-8033-48AD-80DF-945C72BC7335}"/>
              </a:ext>
            </a:extLst>
          </p:cNvPr>
          <p:cNvSpPr>
            <a:spLocks noGrp="1"/>
          </p:cNvSpPr>
          <p:nvPr>
            <p:ph type="body" idx="31"/>
          </p:nvPr>
        </p:nvSpPr>
        <p:spPr>
          <a:xfrm>
            <a:off x="6339926" y="5527896"/>
            <a:ext cx="1828800" cy="343061"/>
          </a:xfrm>
        </p:spPr>
        <p:txBody>
          <a:bodyPr/>
          <a:lstStyle/>
          <a:p>
            <a:r>
              <a:rPr lang="en-US" dirty="0"/>
              <a:t>ELIZABETH MOORE</a:t>
            </a:r>
          </a:p>
        </p:txBody>
      </p:sp>
      <p:sp>
        <p:nvSpPr>
          <p:cNvPr id="74" name="Text Placeholder 73">
            <a:extLst>
              <a:ext uri="{FF2B5EF4-FFF2-40B4-BE49-F238E27FC236}">
                <a16:creationId xmlns:a16="http://schemas.microsoft.com/office/drawing/2014/main" id="{2E2604A9-4BB8-4144-914B-DCF4F13DF3DB}"/>
              </a:ext>
            </a:extLst>
          </p:cNvPr>
          <p:cNvSpPr>
            <a:spLocks noGrp="1"/>
          </p:cNvSpPr>
          <p:nvPr>
            <p:ph type="body" idx="35"/>
          </p:nvPr>
        </p:nvSpPr>
        <p:spPr>
          <a:xfrm>
            <a:off x="6229878" y="5655557"/>
            <a:ext cx="2057400" cy="343061"/>
          </a:xfrm>
        </p:spPr>
        <p:txBody>
          <a:bodyPr/>
          <a:lstStyle/>
          <a:p>
            <a:r>
              <a:rPr lang="en-US" dirty="0"/>
              <a:t>Product Designer</a:t>
            </a:r>
          </a:p>
        </p:txBody>
      </p:sp>
      <p:sp>
        <p:nvSpPr>
          <p:cNvPr id="71" name="Text Placeholder 70">
            <a:extLst>
              <a:ext uri="{FF2B5EF4-FFF2-40B4-BE49-F238E27FC236}">
                <a16:creationId xmlns:a16="http://schemas.microsoft.com/office/drawing/2014/main" id="{A45FE9A3-15E0-49FA-B6E5-DB16CD0C2C8F}"/>
              </a:ext>
            </a:extLst>
          </p:cNvPr>
          <p:cNvSpPr>
            <a:spLocks noGrp="1"/>
          </p:cNvSpPr>
          <p:nvPr>
            <p:ph type="body" idx="32"/>
          </p:nvPr>
        </p:nvSpPr>
        <p:spPr>
          <a:xfrm>
            <a:off x="8759806" y="5513214"/>
            <a:ext cx="1828800" cy="343061"/>
          </a:xfrm>
        </p:spPr>
        <p:txBody>
          <a:bodyPr/>
          <a:lstStyle/>
          <a:p>
            <a:r>
              <a:rPr lang="en-US" dirty="0"/>
              <a:t>ROBIN KLINE</a:t>
            </a:r>
          </a:p>
        </p:txBody>
      </p:sp>
      <p:sp>
        <p:nvSpPr>
          <p:cNvPr id="75" name="Text Placeholder 74">
            <a:extLst>
              <a:ext uri="{FF2B5EF4-FFF2-40B4-BE49-F238E27FC236}">
                <a16:creationId xmlns:a16="http://schemas.microsoft.com/office/drawing/2014/main" id="{72076C4D-9688-4C1A-AB51-8F1051A803A9}"/>
              </a:ext>
            </a:extLst>
          </p:cNvPr>
          <p:cNvSpPr>
            <a:spLocks noGrp="1"/>
          </p:cNvSpPr>
          <p:nvPr>
            <p:ph type="body" idx="36"/>
          </p:nvPr>
        </p:nvSpPr>
        <p:spPr>
          <a:xfrm>
            <a:off x="8634432" y="5640875"/>
            <a:ext cx="2057400" cy="343061"/>
          </a:xfrm>
        </p:spPr>
        <p:txBody>
          <a:bodyPr/>
          <a:lstStyle/>
          <a:p>
            <a:r>
              <a:rPr lang="en-US" dirty="0"/>
              <a:t>Content Developer</a:t>
            </a:r>
          </a:p>
        </p:txBody>
      </p:sp>
      <p:sp>
        <p:nvSpPr>
          <p:cNvPr id="3" name="Date Placeholder 2">
            <a:extLst>
              <a:ext uri="{FF2B5EF4-FFF2-40B4-BE49-F238E27FC236}">
                <a16:creationId xmlns:a16="http://schemas.microsoft.com/office/drawing/2014/main" id="{1833164A-09D8-4E05-899E-C830A562A446}"/>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79EB4DEA-4DCD-421C-A905-7EFCAE898907}"/>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2E1923C7-5010-4C4F-A932-4BDA0B62A7C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18</a:t>
            </a:fld>
            <a:endParaRPr lang="en-US" dirty="0"/>
          </a:p>
        </p:txBody>
      </p:sp>
    </p:spTree>
    <p:extLst>
      <p:ext uri="{BB962C8B-B14F-4D97-AF65-F5344CB8AC3E}">
        <p14:creationId xmlns:p14="http://schemas.microsoft.com/office/powerpoint/2010/main" val="3396266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a:lstStyle/>
          <a:p>
            <a:r>
              <a:rPr lang="en-US" dirty="0"/>
              <a:t>SUMMARY</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19</a:t>
            </a:fld>
            <a:endParaRPr lang="en-US" dirty="0"/>
          </a:p>
        </p:txBody>
      </p:sp>
    </p:spTree>
    <p:extLst>
      <p:ext uri="{BB962C8B-B14F-4D97-AF65-F5344CB8AC3E}">
        <p14:creationId xmlns:p14="http://schemas.microsoft.com/office/powerpoint/2010/main" val="920173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r>
              <a:rPr lang="en-US" dirty="0"/>
              <a:t>Mirjam Nilsson​</a:t>
            </a:r>
          </a:p>
          <a:p>
            <a:r>
              <a:rPr lang="en-US" dirty="0"/>
              <a:t>206-555-0146</a:t>
            </a:r>
          </a:p>
          <a:p>
            <a:r>
              <a:rPr lang="en-US" dirty="0"/>
              <a:t>mirjam@contoso.com</a:t>
            </a:r>
          </a:p>
          <a:p>
            <a:r>
              <a:rPr lang="en-US" dirty="0"/>
              <a:t>www.contoso.com</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20</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6E94D4DF-24E6-4758-8701-2C20AC2BF2DD}" vid="{D9C778EE-A573-4D68-89BA-A3DB5F810E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1845F9-C5F4-4AA5-BA9E-EC2182E914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C8B084D-D430-4822-B3CB-DEADB2E7A5FC}">
  <ds:schemaRefs>
    <ds:schemaRef ds:uri="http://schemas.microsoft.com/sharepoint/v3/contenttype/forms"/>
  </ds:schemaRefs>
</ds:datastoreItem>
</file>

<file path=customXml/itemProps3.xml><?xml version="1.0" encoding="utf-8"?>
<ds:datastoreItem xmlns:ds="http://schemas.openxmlformats.org/officeDocument/2006/customXml" ds:itemID="{15BFCE94-6EC9-4D8E-89B6-C22DE7AD70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805</Words>
  <Application>Microsoft Office PowerPoint</Application>
  <PresentationFormat>Widescreen</PresentationFormat>
  <Paragraphs>290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Monoline</vt:lpstr>
      <vt:lpstr>Pitch deck</vt:lpstr>
      <vt:lpstr>ABOUT US</vt:lpstr>
      <vt:lpstr>PROBLEM</vt:lpstr>
      <vt:lpstr>SOLUTION</vt:lpstr>
      <vt:lpstr>PRODUCT OVERVIEW</vt:lpstr>
      <vt:lpstr>PRODUCT BENEFITS</vt:lpstr>
      <vt:lpstr>COMPANY OVERVIEW</vt:lpstr>
      <vt:lpstr>BUSINESS MODEL</vt:lpstr>
      <vt:lpstr>MARKET OVERVIEW</vt:lpstr>
      <vt:lpstr>Market comparison</vt:lpstr>
      <vt:lpstr>OUR COMPETITION</vt:lpstr>
      <vt:lpstr>Our competition  </vt:lpstr>
      <vt:lpstr>Growth strategy</vt:lpstr>
      <vt:lpstr>TRACTION</vt:lpstr>
      <vt:lpstr>TWO-YEAR ACTION PLAN</vt:lpstr>
      <vt:lpstr>FINANCIALS</vt:lpstr>
      <vt:lpstr>MEET THE TEAM</vt:lpstr>
      <vt:lpstr>MEET THE TEAM  </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2026-07-16T06:03:10Z</dcterms:created>
  <dcterms:modified xsi:type="dcterms:W3CDTF">2026-07-16T06:03:14Z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