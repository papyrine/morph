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9"/>
  </p:notesMasterIdLst>
  <p:handoutMasterIdLst>
    <p:handoutMasterId r:id="rId10"/>
  </p:handoutMasterIdLst>
  <p:sldIdLst>
    <p:sldId id="275" r:id="rId5"/>
    <p:sldId id="274" r:id="rId6"/>
    <p:sldId id="276" r:id="rId7"/>
    <p:sldId id="272" r:id="rId8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3725" autoAdjust="0"/>
  </p:normalViewPr>
  <p:slideViewPr>
    <p:cSldViewPr snapToGrid="0" showGuides="1">
      <p:cViewPr>
        <p:scale>
          <a:sx n="100" d="100"/>
          <a:sy n="100" d="100"/>
        </p:scale>
        <p:origin x="-130" y="-850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68B7C-E4CD-4872-B084-44133F808FCE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8E42-E7C5-4B24-8575-74A765CA0A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D5BD-E30B-48AB-B24F-3878C333D518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A707-0A4C-444E-BBAC-8F56E4534D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1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878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19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19272"/>
            <a:ext cx="10058400" cy="44531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3575303"/>
            <a:ext cx="2889504" cy="2883863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51B54BE4-E4FF-CB9D-4AA3-438520D04D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4791" y="3575303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13E0E94-05A3-AF4B-2D4B-AD8A4E2F8F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2003" y="3554097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DA993-9462-4064-B89B-BCEF27D4D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4476" y="3331758"/>
            <a:ext cx="3360592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1403-AA2F-415D-BC4C-E1168B62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710" y="3329078"/>
            <a:ext cx="3360592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text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0"/>
            <a:ext cx="2895600" cy="653143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0" y="0"/>
            <a:ext cx="33552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4713694"/>
            <a:ext cx="2889504" cy="1770169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92751-E9EF-463C-8C1E-1AA3A9B1D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655C91-4C63-7435-25A3-BB5C8713D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82102"/>
            <a:ext cx="2894013" cy="1663429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7622711-E5B3-A1BF-1F1D-7E5BD1EE63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6213" y="4521461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57A7-3A86-45DA-B5CA-AC7A481E3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BCA9-2C74-4567-9FB2-2CE1AC28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89036"/>
            <a:ext cx="2862734" cy="759499"/>
          </a:xfrm>
        </p:spPr>
        <p:txBody>
          <a:bodyPr vert="horz" lIns="0" tIns="45720" rIns="91440" bIns="45720" rtlCol="0" anchor="ctr">
            <a:noAutofit/>
          </a:bodyPr>
          <a:lstStyle>
            <a:lvl1pPr>
              <a:defRPr lang="en-US" sz="2400" b="0" cap="none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9400" y="89036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93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3575303"/>
            <a:ext cx="2889504" cy="2883863"/>
          </a:xfrm>
        </p:spPr>
        <p:txBody>
          <a:bodyPr/>
          <a:lstStyle/>
          <a:p>
            <a:r>
              <a:rPr lang="en-US" dirty="0"/>
              <a:t>TAILWIND TRADERS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/>
          <a:lstStyle/>
          <a:p>
            <a:r>
              <a:rPr lang="en-US" dirty="0"/>
              <a:t>INVEST IN YOUR FUTURE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4791" y="3575303"/>
            <a:ext cx="2898647" cy="444960"/>
          </a:xfrm>
        </p:spPr>
        <p:txBody>
          <a:bodyPr>
            <a:normAutofit/>
          </a:bodyPr>
          <a:lstStyle/>
          <a:p>
            <a:r>
              <a:rPr lang="en-US" dirty="0"/>
              <a:t>Our 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4087368"/>
            <a:ext cx="2893612" cy="3391118"/>
          </a:xfrm>
        </p:spPr>
        <p:txBody>
          <a:bodyPr/>
          <a:lstStyle/>
          <a:p>
            <a:r>
              <a:rPr lang="en-US" dirty="0"/>
              <a:t>At Tailwind Traders, our vision is to empower individuals and businesses to navigate the complex world of investments and trading with confidence.</a:t>
            </a:r>
          </a:p>
          <a:p>
            <a:r>
              <a:rPr lang="en-US" dirty="0"/>
              <a:t>We strive to be a trusted partner, providing innovative financial solutions and personalized strategies that help our clients achieve their financial goals and secure a prosperous future.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72003" y="3554097"/>
            <a:ext cx="2898647" cy="444960"/>
          </a:xfrm>
        </p:spPr>
        <p:txBody>
          <a:bodyPr>
            <a:normAutofit/>
          </a:bodyPr>
          <a:lstStyle/>
          <a:p>
            <a:r>
              <a:rPr lang="en-US" dirty="0"/>
              <a:t>Contact us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47EA2A-40A4-486B-B8C9-03B7FB007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7038" y="4087368"/>
            <a:ext cx="2893612" cy="1741653"/>
          </a:xfrm>
        </p:spPr>
        <p:txBody>
          <a:bodyPr/>
          <a:lstStyle/>
          <a:p>
            <a:r>
              <a:rPr lang="en-US" dirty="0"/>
              <a:t>4567 Main St ​</a:t>
            </a:r>
          </a:p>
          <a:p>
            <a:r>
              <a:rPr lang="en-US" dirty="0"/>
              <a:t>Buffalo, NY 98052​</a:t>
            </a:r>
          </a:p>
          <a:p>
            <a:r>
              <a:rPr lang="en-US" dirty="0"/>
              <a:t>555-0100​</a:t>
            </a:r>
          </a:p>
          <a:p>
            <a:r>
              <a:rPr lang="en-US" dirty="0"/>
              <a:t>info@tailwindtraders.com​</a:t>
            </a:r>
          </a:p>
          <a:p>
            <a:r>
              <a:rPr lang="en-US" dirty="0"/>
              <a:t>tailwindtraders.com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FD30442A-A1AE-4FD1-B045-22F09C71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86200"/>
            <a:ext cx="2804477" cy="475315"/>
          </a:xfrm>
        </p:spPr>
        <p:txBody>
          <a:bodyPr/>
          <a:lstStyle/>
          <a:p>
            <a:r>
              <a:rPr lang="en-US" dirty="0"/>
              <a:t>Our services</a:t>
            </a:r>
            <a:br>
              <a:rPr lang="en-US" dirty="0"/>
            </a:br>
            <a:endParaRPr lang="en-US" dirty="0"/>
          </a:p>
        </p:txBody>
      </p:sp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" b="71"/>
          <a:stretch/>
        </p:blipFill>
        <p:spPr>
          <a:xfrm>
            <a:off x="0" y="1340"/>
            <a:ext cx="3342882" cy="3329078"/>
          </a:xfr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16388D3-BE48-44F4-A6D7-DDF2293730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4410389"/>
            <a:ext cx="2804477" cy="3114839"/>
          </a:xfrm>
        </p:spPr>
        <p:txBody>
          <a:bodyPr/>
          <a:lstStyle/>
          <a:p>
            <a:r>
              <a:rPr lang="en-US"/>
              <a:t>Tailwind Traders offers a comprehensive range of investment and trading services designed to meet the diverse needs of our clients.</a:t>
            </a:r>
          </a:p>
          <a:p>
            <a:r>
              <a:rPr lang="en-US"/>
              <a:t>From wealth management and portfolio advisory to equity trading and risk analysis, our team of experts leverages their in-depth market knowledge and cutting-edge technology to deliver tailored solutions that optimize returns and mitigate risks.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4508FAD-2D2E-458D-B98F-3AB625F32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7760" y="0"/>
            <a:ext cx="2895600" cy="653143"/>
          </a:xfrm>
        </p:spPr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FD12705-AB70-40E3-A13F-B36B09C89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7442" y="653143"/>
            <a:ext cx="2895600" cy="3473689"/>
          </a:xfrm>
        </p:spPr>
        <p:txBody>
          <a:bodyPr/>
          <a:lstStyle/>
          <a:p>
            <a:r>
              <a:rPr lang="en-US"/>
              <a:t>At the heart of Tailwind Traders is our exceptional team of financial professionals who possess a deep understanding of the markets and a passion for delivering outstanding client service.</a:t>
            </a:r>
          </a:p>
          <a:p>
            <a:r>
              <a:rPr lang="en-US"/>
              <a:t>With a diverse range of backgrounds and expertise, our team combines analytical rigor with strategic thinking to provide informed investment advice and execute sophisticated trading strategies.</a:t>
            </a:r>
            <a:endParaRPr lang="en-US" dirty="0"/>
          </a:p>
        </p:txBody>
      </p:sp>
      <p:pic>
        <p:nvPicPr>
          <p:cNvPr id="8" name="Picture Placeholder 7" descr="pen drawing line graph">
            <a:extLst>
              <a:ext uri="{FF2B5EF4-FFF2-40B4-BE49-F238E27FC236}">
                <a16:creationId xmlns:a16="http://schemas.microsoft.com/office/drawing/2014/main" id="{CB99DC04-3520-4C11-90E0-A4F0438ED3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" r="425"/>
          <a:stretch/>
        </p:blipFill>
        <p:spPr>
          <a:xfrm>
            <a:off x="3355975" y="4471779"/>
            <a:ext cx="3348000" cy="3300621"/>
          </a:xfrm>
        </p:spPr>
      </p:pic>
      <p:pic>
        <p:nvPicPr>
          <p:cNvPr id="9" name="Picture Placeholder 8" descr="woman holding binder leaving office">
            <a:extLst>
              <a:ext uri="{FF2B5EF4-FFF2-40B4-BE49-F238E27FC236}">
                <a16:creationId xmlns:a16="http://schemas.microsoft.com/office/drawing/2014/main" id="{7F4B8A9C-45CD-4CD3-9835-7B75C8E7DF8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" b="95"/>
          <a:stretch/>
        </p:blipFill>
        <p:spPr>
          <a:xfrm>
            <a:off x="6703975" y="0"/>
            <a:ext cx="3354425" cy="3329078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C64EB9-E6EA-45AD-9476-BDDE899850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2615" y="4350709"/>
            <a:ext cx="2887103" cy="3114839"/>
          </a:xfrm>
        </p:spPr>
        <p:txBody>
          <a:bodyPr/>
          <a:lstStyle/>
          <a:p>
            <a:r>
              <a:rPr lang="en-US"/>
              <a:t>Our team of experts are here to help you develop successful strategies today for a financially secure tomorrow.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2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44">
            <a:extLst>
              <a:ext uri="{FF2B5EF4-FFF2-40B4-BE49-F238E27FC236}">
                <a16:creationId xmlns:a16="http://schemas.microsoft.com/office/drawing/2014/main" id="{2704561A-EBDC-4554-AB63-6E7F0AD34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4713694"/>
            <a:ext cx="2889504" cy="1770169"/>
          </a:xfrm>
        </p:spPr>
        <p:txBody>
          <a:bodyPr/>
          <a:lstStyle/>
          <a:p>
            <a:r>
              <a:rPr lang="en-US"/>
              <a:t>TAILWIND TRADERS </a:t>
            </a:r>
            <a:endParaRPr lang="en-US" dirty="0"/>
          </a:p>
        </p:txBody>
      </p:sp>
      <p:sp>
        <p:nvSpPr>
          <p:cNvPr id="46" name="Subtitle 45">
            <a:extLst>
              <a:ext uri="{FF2B5EF4-FFF2-40B4-BE49-F238E27FC236}">
                <a16:creationId xmlns:a16="http://schemas.microsoft.com/office/drawing/2014/main" id="{84AA5B14-11B0-4875-B1F5-69DBF1E46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/>
          <a:lstStyle/>
          <a:p>
            <a:r>
              <a:rPr lang="en-US"/>
              <a:t>INVEST IN YOUR FUTURE</a:t>
            </a:r>
          </a:p>
          <a:p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5B9EC67-E16B-4644-BE4E-9F3520D5AE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2102"/>
            <a:ext cx="2894013" cy="1663429"/>
          </a:xfrm>
        </p:spPr>
        <p:txBody>
          <a:bodyPr>
            <a:normAutofit/>
          </a:bodyPr>
          <a:lstStyle/>
          <a:p>
            <a:r>
              <a:rPr lang="en-US"/>
              <a:t>Our vision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9C5F90-E573-43D7-AC40-5AD946F4D0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2044385"/>
            <a:ext cx="2893612" cy="4807095"/>
          </a:xfrm>
        </p:spPr>
        <p:txBody>
          <a:bodyPr/>
          <a:lstStyle/>
          <a:p>
            <a:r>
              <a:rPr lang="en-US"/>
              <a:t>Driven by our vision, we are committed to fostering long-term relationships with our clients, built on trust, transparency, and integrity.</a:t>
            </a:r>
          </a:p>
          <a:p>
            <a:r>
              <a:rPr lang="en-US"/>
              <a:t>Our aim is to be the go-to resource for investment and trading expertise, empowering individuals and businesses to make informed financial decisions and capitalize on market opportunities.</a:t>
            </a:r>
          </a:p>
          <a:p>
            <a:r>
              <a:rPr lang="en-US"/>
              <a:t>We envision a future where financial success is within reach for everyone, and we strive to make that vision a reality.</a:t>
            </a:r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pic>
        <p:nvPicPr>
          <p:cNvPr id="41" name="Picture Placeholder 40" descr="close up of mathematical graphs">
            <a:extLst>
              <a:ext uri="{FF2B5EF4-FFF2-40B4-BE49-F238E27FC236}">
                <a16:creationId xmlns:a16="http://schemas.microsoft.com/office/drawing/2014/main" id="{B18AACB1-42A2-4B1E-8CE7-58311236A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" r="319"/>
          <a:stretch/>
        </p:blipFill>
        <p:spPr>
          <a:xfrm>
            <a:off x="3352801" y="0"/>
            <a:ext cx="6705600" cy="4419600"/>
          </a:xfrm>
        </p:spPr>
      </p:pic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510886A2-18AD-4F58-A88D-0836A93378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6213" y="4521461"/>
            <a:ext cx="2898647" cy="670463"/>
          </a:xfrm>
        </p:spPr>
        <p:txBody>
          <a:bodyPr>
            <a:normAutofit/>
          </a:bodyPr>
          <a:lstStyle/>
          <a:p>
            <a:r>
              <a:rPr lang="en-US"/>
              <a:t>Contact us</a:t>
            </a:r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88890BB-2976-4D42-B9BB-FE40645D12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7038" y="5216093"/>
            <a:ext cx="2893612" cy="1741653"/>
          </a:xfrm>
        </p:spPr>
        <p:txBody>
          <a:bodyPr/>
          <a:lstStyle/>
          <a:p>
            <a:r>
              <a:rPr lang="en-US"/>
              <a:t>4567 Main St ​</a:t>
            </a:r>
          </a:p>
          <a:p>
            <a:r>
              <a:rPr lang="en-US"/>
              <a:t>Buffalo, NY 98052​</a:t>
            </a:r>
          </a:p>
          <a:p>
            <a:r>
              <a:rPr lang="en-US"/>
              <a:t>555-0100​</a:t>
            </a:r>
          </a:p>
          <a:p>
            <a:r>
              <a:rPr lang="en-US"/>
              <a:t>info@tailwindtraders.com​</a:t>
            </a:r>
          </a:p>
          <a:p>
            <a:r>
              <a:rPr lang="en-US"/>
              <a:t>tailwindtraders.com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6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14">
            <a:extLst>
              <a:ext uri="{FF2B5EF4-FFF2-40B4-BE49-F238E27FC236}">
                <a16:creationId xmlns:a16="http://schemas.microsoft.com/office/drawing/2014/main" id="{D328ED67-05E4-4380-99B0-44D2DEB5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89036"/>
            <a:ext cx="2862734" cy="759499"/>
          </a:xfrm>
        </p:spPr>
        <p:txBody>
          <a:bodyPr/>
          <a:lstStyle/>
          <a:p>
            <a:r>
              <a:rPr lang="en-US" dirty="0"/>
              <a:t>Our services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35A574-EC9F-4321-9CA3-5D765C30B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848535"/>
            <a:ext cx="2864802" cy="3505751"/>
          </a:xfrm>
        </p:spPr>
        <p:txBody>
          <a:bodyPr/>
          <a:lstStyle/>
          <a:p>
            <a:r>
              <a:rPr lang="en-US"/>
              <a:t>Tailwind Traders offers a comprehensive range of investment and trading services designed to meet the diverse needs of our clients.</a:t>
            </a:r>
          </a:p>
          <a:p>
            <a:r>
              <a:rPr lang="en-US"/>
              <a:t>From wealth management and portfolio advisory to equity trading and risk analysis, our team of experts leverages their in-depth market knowledge and cutting-edge technology to deliver tailored solutions that optimize returns and mitigate risks.</a:t>
            </a:r>
            <a:endParaRPr lang="en-US" dirty="0"/>
          </a:p>
        </p:txBody>
      </p:sp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443322"/>
            <a:ext cx="3348000" cy="3329078"/>
          </a:xfrm>
        </p:spPr>
      </p:pic>
      <p:pic>
        <p:nvPicPr>
          <p:cNvPr id="7" name="Picture Placeholder 6" descr="pen drawing line graph">
            <a:extLst>
              <a:ext uri="{FF2B5EF4-FFF2-40B4-BE49-F238E27FC236}">
                <a16:creationId xmlns:a16="http://schemas.microsoft.com/office/drawing/2014/main" id="{1E006552-A299-4408-9F54-B196F5056E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"/>
          <a:stretch/>
        </p:blipFill>
        <p:spPr>
          <a:xfrm>
            <a:off x="3355975" y="-1"/>
            <a:ext cx="3348000" cy="3300621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57663-49C5-4FE7-93F7-6D408078AC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81400" y="3554730"/>
            <a:ext cx="2895599" cy="3989070"/>
          </a:xfrm>
        </p:spPr>
        <p:txBody>
          <a:bodyPr/>
          <a:lstStyle/>
          <a:p>
            <a:r>
              <a:rPr lang="en-US"/>
              <a:t>Our team of experts are here to help you develop successful strategies today for a financially secure tomorrow. 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F0CFD1C-F6E7-4B83-AB91-F24AF9E653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29400" y="89036"/>
            <a:ext cx="2898647" cy="670463"/>
          </a:xfrm>
        </p:spPr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B717E8-011C-4547-A6B4-B8F2FE4F15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31151" y="848535"/>
            <a:ext cx="2898647" cy="3505751"/>
          </a:xfrm>
        </p:spPr>
        <p:txBody>
          <a:bodyPr/>
          <a:lstStyle/>
          <a:p>
            <a:r>
              <a:rPr lang="en-US"/>
              <a:t>Seasoned professionals with extensive experience in finance, investment analysis, and trading strategies.</a:t>
            </a:r>
          </a:p>
          <a:p>
            <a:r>
              <a:rPr lang="en-US"/>
              <a:t>Strong track record of delivering consistent results and exceeding client expectations.</a:t>
            </a:r>
          </a:p>
          <a:p>
            <a:r>
              <a:rPr lang="en-US"/>
              <a:t>Collaborative and client-centric approach, ensuring personalized solutions tailored to individual needs and goals.</a:t>
            </a:r>
            <a:endParaRPr lang="en-US" dirty="0"/>
          </a:p>
        </p:txBody>
      </p:sp>
      <p:pic>
        <p:nvPicPr>
          <p:cNvPr id="8" name="Picture Placeholder 7" descr="woman holding binder leaving office">
            <a:extLst>
              <a:ext uri="{FF2B5EF4-FFF2-40B4-BE49-F238E27FC236}">
                <a16:creationId xmlns:a16="http://schemas.microsoft.com/office/drawing/2014/main" id="{672E69F0-216F-41E3-A8BF-4C5DA81E144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0400" y="4443322"/>
            <a:ext cx="3348000" cy="3329078"/>
          </a:xfrm>
        </p:spPr>
      </p:pic>
    </p:spTree>
    <p:extLst>
      <p:ext uri="{BB962C8B-B14F-4D97-AF65-F5344CB8AC3E}">
        <p14:creationId xmlns:p14="http://schemas.microsoft.com/office/powerpoint/2010/main" val="7193250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95769-5942-4600-A53A-03E512C1B4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96FE40-54E0-4037-BA44-87E12A105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583D91-7997-43AB-ABC2-40E0CE2D4BA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455</Words>
  <Application>Microsoft Office PowerPoint</Application>
  <PresentationFormat>Custom</PresentationFormat>
  <Paragraphs>43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Custom </vt:lpstr>
      <vt:lpstr>TAILWIND TRADERS</vt:lpstr>
      <vt:lpstr>Our services </vt:lpstr>
      <vt:lpstr>TAILWIND TRADERS </vt:lpstr>
      <vt:lpstr>Our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2026-07-16T05:57:45Z</dcterms:created>
  <dcterms:modified xsi:type="dcterms:W3CDTF">2026-07-16T05:57:48Z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