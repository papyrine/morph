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33" r:id="rId5"/>
    <p:sldId id="360" r:id="rId6"/>
    <p:sldId id="370" r:id="rId7"/>
    <p:sldId id="338" r:id="rId8"/>
    <p:sldId id="361" r:id="rId9"/>
    <p:sldId id="362" r:id="rId10"/>
    <p:sldId id="299" r:id="rId11"/>
    <p:sldId id="339" r:id="rId12"/>
    <p:sldId id="363" r:id="rId13"/>
    <p:sldId id="304" r:id="rId14"/>
    <p:sldId id="364" r:id="rId15"/>
    <p:sldId id="343" r:id="rId16"/>
    <p:sldId id="300" r:id="rId17"/>
    <p:sldId id="365" r:id="rId18"/>
    <p:sldId id="366" r:id="rId19"/>
    <p:sldId id="301" r:id="rId20"/>
    <p:sldId id="346" r:id="rId21"/>
    <p:sldId id="367" r:id="rId22"/>
    <p:sldId id="302" r:id="rId23"/>
    <p:sldId id="368" r:id="rId24"/>
    <p:sldId id="352" r:id="rId25"/>
    <p:sldId id="303" r:id="rId26"/>
    <p:sldId id="369" r:id="rId27"/>
    <p:sldId id="351" r:id="rId28"/>
    <p:sldId id="354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35" autoAdjust="0"/>
  </p:normalViewPr>
  <p:slideViewPr>
    <p:cSldViewPr snapToGrid="0">
      <p:cViewPr varScale="1">
        <p:scale>
          <a:sx n="88" d="100"/>
          <a:sy n="88" d="100"/>
        </p:scale>
        <p:origin x="100" y="3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7/15/2026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noProof="0" dirty="0"/>
              <a:t>Company</a:t>
            </a:r>
            <a:br>
              <a:rPr lang="en-US" altLang="zh-CN" noProof="0" dirty="0"/>
            </a:br>
            <a:r>
              <a:rPr lang="en-US" altLang="zh-CN" noProof="0" dirty="0"/>
              <a:t>Overview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Innovating for a sustainable future</a:t>
            </a:r>
            <a:endParaRPr lang="zh-CN" altLang="en-US"/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/>
              <a:t>Presenter Name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/>
          <a:lstStyle/>
          <a:p>
            <a:r>
              <a:rPr lang="en-US" altLang="zh-CN"/>
              <a:t>Agenda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/>
          <a:lstStyle/>
          <a:p>
            <a:r>
              <a:rPr lang="en-US" altLang="zh-CN"/>
              <a:t>Company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/>
          <a:lstStyle/>
          <a:p>
            <a:r>
              <a:rPr lang="en-US" altLang="zh-CN"/>
              <a:t>Mission and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/>
          <a:lstStyle/>
          <a:p>
            <a:r>
              <a:rPr lang="en-US" altLang="zh-CN"/>
              <a:t>Core Values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/>
          <a:lstStyle/>
          <a:p>
            <a:r>
              <a:rPr lang="en-US" altLang="zh-CN"/>
              <a:t>Business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/>
          <a:lstStyle/>
          <a:p>
            <a:r>
              <a:rPr lang="en-US" altLang="zh-CN"/>
              <a:t>Market Position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/>
          <a:lstStyle/>
          <a:p>
            <a:r>
              <a:rPr lang="en-US" altLang="zh-CN"/>
              <a:t>Governance and CSR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/>
          <a:lstStyle/>
          <a:p>
            <a:r>
              <a:rPr lang="en-US" altLang="zh-CN"/>
              <a:t>Future Goals</a:t>
            </a:r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/>
          <a:lstStyle/>
          <a:p>
            <a:r>
              <a:rPr lang="en-US" altLang="zh-CN" noProof="0"/>
              <a:t>Company History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6ABDF-735A-CC28-2800-950147010B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2864"/>
            <a:ext cx="5889827" cy="1268718"/>
          </a:xfrm>
        </p:spPr>
        <p:txBody>
          <a:bodyPr/>
          <a:lstStyle/>
          <a:p>
            <a:r>
              <a:rPr lang="en-US" altLang="zh-CN"/>
              <a:t>About us: Foundation, Milestones, and Growth</a:t>
            </a:r>
          </a:p>
        </p:txBody>
      </p:sp>
      <p:pic>
        <p:nvPicPr>
          <p:cNvPr id="22" name="Picture Placeholder 3" descr="Woman in apron standing at entrance">
            <a:extLst>
              <a:ext uri="{FF2B5EF4-FFF2-40B4-BE49-F238E27FC236}">
                <a16:creationId xmlns:a16="http://schemas.microsoft.com/office/drawing/2014/main" id="{95E77616-8265-FD0E-D5CE-E8699923AA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23" name="Picture Placeholder 7" descr="Man in apron sitting by door">
            <a:extLst>
              <a:ext uri="{FF2B5EF4-FFF2-40B4-BE49-F238E27FC236}">
                <a16:creationId xmlns:a16="http://schemas.microsoft.com/office/drawing/2014/main" id="{9C933B3D-2DD0-8A0F-0AAC-8964BED759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9052312" y="2833425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/>
          <a:lstStyle/>
          <a:p>
            <a:r>
              <a:rPr lang="en-US"/>
              <a:t>Foundation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>
            <a:normAutofit/>
          </a:bodyPr>
          <a:lstStyle/>
          <a:p>
            <a:r>
              <a:rPr lang="en-US"/>
              <a:t>Our company was founded in 2001 with a vision to innovate and provide groundbreaking solutions in the tech industry. The founders, inspired by the rapid advancements in technology, envisioned a company that would not only participate in the tech revolution but lead it. This vision laid the foundation for what has become a leading organization in our field. Over the years, our commitment to innovation and quality has driven our growth and solidified our position as a trusted leader in technology solutions.</a:t>
            </a:r>
          </a:p>
        </p:txBody>
      </p:sp>
      <p:pic>
        <p:nvPicPr>
          <p:cNvPr id="16" name="Picture Placeholder 15" descr="Low angle shot of three modern glass skyscrapers.">
            <a:extLst>
              <a:ext uri="{FF2B5EF4-FFF2-40B4-BE49-F238E27FC236}">
                <a16:creationId xmlns:a16="http://schemas.microsoft.com/office/drawing/2014/main" id="{B147720E-1C98-6E44-850F-81313654BE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" r="48"/>
          <a:stretch/>
        </p:blipFill>
        <p:spPr>
          <a:xfrm>
            <a:off x="7357442" y="831919"/>
            <a:ext cx="3949885" cy="5194161"/>
          </a:xfrm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3972-BC8F-F375-56E2-B6733565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Milestones</a:t>
            </a:r>
          </a:p>
        </p:txBody>
      </p:sp>
      <p:pic>
        <p:nvPicPr>
          <p:cNvPr id="16" name="Picture Placeholder 15" descr="A smiling women is clapping.">
            <a:extLst>
              <a:ext uri="{FF2B5EF4-FFF2-40B4-BE49-F238E27FC236}">
                <a16:creationId xmlns:a16="http://schemas.microsoft.com/office/drawing/2014/main" id="{6A417A10-06F3-3F85-A1E4-5C6479C0A2BE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968" y="2134688"/>
            <a:ext cx="1446212" cy="14462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CB629-0F93-E5A7-38FE-6B5FDE6302B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/>
          <a:lstStyle/>
          <a:p>
            <a:r>
              <a:rPr lang="en-US" altLang="zh-CN"/>
              <a:t>Initial Public Offering (IPO)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B2820-E2FD-9F50-647C-7211DCB31D2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/>
          <a:lstStyle/>
          <a:p>
            <a:r>
              <a:rPr lang="en-US" altLang="zh-CN"/>
              <a:t>In 2005, our company went public, marking a significant milestone in our growth trajectory.</a:t>
            </a:r>
            <a:endParaRPr lang="zh-CN" altLang="en-US"/>
          </a:p>
        </p:txBody>
      </p:sp>
      <p:pic>
        <p:nvPicPr>
          <p:cNvPr id="20" name="Picture Placeholder 19" descr="Two people reviewing and discussing sticky notes on a wall.">
            <a:extLst>
              <a:ext uri="{FF2B5EF4-FFF2-40B4-BE49-F238E27FC236}">
                <a16:creationId xmlns:a16="http://schemas.microsoft.com/office/drawing/2014/main" id="{35FB5F0C-8EDD-FB15-D7B0-D69297F2C00A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968" y="3981726"/>
            <a:ext cx="1446212" cy="1446213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B89C80-5FF2-3C64-2064-2252C02D7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/>
          <a:lstStyle/>
          <a:p>
            <a:r>
              <a:rPr lang="en-US" altLang="zh-CN"/>
              <a:t>Strategic Partnerships</a:t>
            </a:r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34057D-388F-B462-D877-CB78DE9BB0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/>
          <a:lstStyle/>
          <a:p>
            <a:r>
              <a:rPr lang="en-US" altLang="zh-CN"/>
              <a:t>In 2010, we formed key strategic partnerships that enhanced our market presence and broadened our technological capabilities. </a:t>
            </a:r>
          </a:p>
          <a:p>
            <a:endParaRPr lang="en-US"/>
          </a:p>
        </p:txBody>
      </p:sp>
      <p:pic>
        <p:nvPicPr>
          <p:cNvPr id="18" name="Picture Placeholder 17" descr="People collaborating and working in an office.">
            <a:extLst>
              <a:ext uri="{FF2B5EF4-FFF2-40B4-BE49-F238E27FC236}">
                <a16:creationId xmlns:a16="http://schemas.microsoft.com/office/drawing/2014/main" id="{89C4069A-B586-597F-749A-2BEE850C2566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5673" y="2134688"/>
            <a:ext cx="1446212" cy="1446213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C08F3C9-944A-F895-9B28-4306D2F1FEA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/>
          <a:lstStyle/>
          <a:p>
            <a:r>
              <a:rPr lang="en-US" altLang="zh-CN"/>
              <a:t>International Expansion</a:t>
            </a:r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C54AA1-88E5-DDA0-BA64-381B1600D9E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/>
          <a:lstStyle/>
          <a:p>
            <a:r>
              <a:rPr lang="en-US" altLang="zh-CN"/>
              <a:t>By 2015, our company had established a global footprint, opening offices in major markets around the world.</a:t>
            </a:r>
          </a:p>
        </p:txBody>
      </p:sp>
      <p:pic>
        <p:nvPicPr>
          <p:cNvPr id="22" name="Picture Placeholder 21" descr="A smiling man is typing on the computer.">
            <a:extLst>
              <a:ext uri="{FF2B5EF4-FFF2-40B4-BE49-F238E27FC236}">
                <a16:creationId xmlns:a16="http://schemas.microsoft.com/office/drawing/2014/main" id="{7E9FA5FD-175A-841D-F059-B06414FDE8A4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5673" y="3981726"/>
            <a:ext cx="1446212" cy="1446213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B24529-D8BE-FB30-F6FE-FE80689641C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/>
          <a:lstStyle/>
          <a:p>
            <a:r>
              <a:rPr lang="en-US" altLang="zh-CN"/>
              <a:t>Product Innovation</a:t>
            </a:r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BF6CFF-9714-865F-E266-291500D60FA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/>
          <a:lstStyle/>
          <a:p>
            <a:r>
              <a:rPr lang="en-US" altLang="zh-CN"/>
              <a:t>In 2018, we launched our flagship product, which revolutionized the industry and set new standards for quality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8538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Company Growth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C84E8-BACD-FBE6-C56A-B8B552B5C5B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/>
          <a:lstStyle/>
          <a:p>
            <a:r>
              <a:rPr lang="en-US" altLang="zh-CN"/>
              <a:t>Early Funding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546DB-CA6C-E612-08C2-89B8638C82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/>
          <a:lstStyle/>
          <a:p>
            <a:r>
              <a:rPr lang="en-US" altLang="zh-CN"/>
              <a:t>Initial funding was crucial, fueling growth, R&amp;D investments, and enabling innovation </a:t>
            </a:r>
          </a:p>
          <a:p>
            <a:r>
              <a:rPr lang="en-US" altLang="zh-CN"/>
              <a:t>and market expansion.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30C09-CC0E-1243-8359-70DF63D24E5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/>
          <a:lstStyle/>
          <a:p>
            <a:r>
              <a:rPr lang="en-US" altLang="zh-CN"/>
              <a:t>Strategic Acquisitions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F5885-A010-6AC0-50BD-EB95048A01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/>
          <a:lstStyle/>
          <a:p>
            <a:r>
              <a:rPr lang="en-US"/>
              <a:t>Strategic acquisitions boost capabilities, broaden products, and propel growth </a:t>
            </a:r>
          </a:p>
          <a:p>
            <a:r>
              <a:rPr lang="en-US"/>
              <a:t>and market dominance.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A21DF-28FF-8FFE-C51B-4D6D19EE635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/>
          <a:lstStyle/>
          <a:p>
            <a:r>
              <a:rPr lang="en-US" altLang="zh-CN"/>
              <a:t>Business Model Pivot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348E58-CD9C-672E-4F3B-BE0DDC7C1D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/>
          <a:lstStyle/>
          <a:p>
            <a:r>
              <a:rPr lang="en-US" altLang="zh-CN"/>
              <a:t>In 2010, we adapted our business model for market changes, boosting customer satisfaction and competitiveness.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7EB481-D1FA-3D28-9949-AF57E1382C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/>
          <a:lstStyle/>
          <a:p>
            <a:r>
              <a:rPr lang="en-US" altLang="zh-CN"/>
              <a:t>Target Market Focus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3B6AA4-603E-2BD4-C9B7-1AF155EB065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/>
          <a:lstStyle/>
          <a:p>
            <a:r>
              <a:rPr lang="en-US"/>
              <a:t>Focusing on specific markets lets us tailor products for unique needs, </a:t>
            </a:r>
          </a:p>
          <a:p>
            <a:r>
              <a:rPr lang="en-US"/>
              <a:t>increasing satisfaction and loyalty.</a:t>
            </a:r>
          </a:p>
        </p:txBody>
      </p:sp>
    </p:spTree>
    <p:extLst>
      <p:ext uri="{BB962C8B-B14F-4D97-AF65-F5344CB8AC3E}">
        <p14:creationId xmlns:p14="http://schemas.microsoft.com/office/powerpoint/2010/main" val="375712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89980E-2D9C-FF2D-D108-59614A21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Mission </a:t>
            </a:r>
            <a:br>
              <a:rPr lang="en-US" altLang="zh-CN"/>
            </a:br>
            <a:r>
              <a:rPr lang="en-US" altLang="zh-CN"/>
              <a:t>and Vision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938EA-5E81-6F4B-AD8A-91D414FD10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2864"/>
            <a:ext cx="5889827" cy="126871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What we are and what we do</a:t>
            </a:r>
          </a:p>
        </p:txBody>
      </p:sp>
      <p:pic>
        <p:nvPicPr>
          <p:cNvPr id="4" name="Picture Placeholder 3" descr="High-five in a workspace.">
            <a:extLst>
              <a:ext uri="{FF2B5EF4-FFF2-40B4-BE49-F238E27FC236}">
                <a16:creationId xmlns:a16="http://schemas.microsoft.com/office/drawing/2014/main" id="{7A1F2087-E6D4-5E3B-784F-100A98C293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9" name="Picture Placeholder 8" descr="Woman with crossed arms.">
            <a:extLst>
              <a:ext uri="{FF2B5EF4-FFF2-40B4-BE49-F238E27FC236}">
                <a16:creationId xmlns:a16="http://schemas.microsoft.com/office/drawing/2014/main" id="{5A28BD0B-0D05-3D24-BC22-A913C4E115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9052312" y="2833425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18647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96E95-9B0C-4EC1-9980-C3F4F6A5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/>
          <a:lstStyle/>
          <a:p>
            <a:r>
              <a:rPr lang="en-US"/>
              <a:t>Mission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56FB-552F-5A4B-085F-DC35C50D474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>
            <a:noAutofit/>
          </a:bodyPr>
          <a:lstStyle/>
          <a:p>
            <a:r>
              <a:rPr lang="en-US" altLang="zh-CN" dirty="0"/>
              <a:t>Our mission is to harness cutting-edge technology to create innovative solutions that empower businesses and individuals. We are committed to excellence, quality, and delivering value to our stakeholders.</a:t>
            </a:r>
          </a:p>
        </p:txBody>
      </p:sp>
      <p:pic>
        <p:nvPicPr>
          <p:cNvPr id="14" name="Picture Placeholder 13" descr="Two people collaborating at a computer.">
            <a:extLst>
              <a:ext uri="{FF2B5EF4-FFF2-40B4-BE49-F238E27FC236}">
                <a16:creationId xmlns:a16="http://schemas.microsoft.com/office/drawing/2014/main" id="{4A5C565C-5FD3-821D-1BF8-583E98BD97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" r="41"/>
          <a:stretch/>
        </p:blipFill>
        <p:spPr>
          <a:xfrm>
            <a:off x="7300452" y="831918"/>
            <a:ext cx="4006875" cy="5194161"/>
          </a:xfrm>
        </p:spPr>
      </p:pic>
    </p:spTree>
    <p:extLst>
      <p:ext uri="{BB962C8B-B14F-4D97-AF65-F5344CB8AC3E}">
        <p14:creationId xmlns:p14="http://schemas.microsoft.com/office/powerpoint/2010/main" val="2859168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63C5F-C72F-D73B-0AB4-6DADC99089A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/>
          <a:lstStyle/>
          <a:p>
            <a:r>
              <a:rPr lang="en-US" altLang="zh-CN"/>
              <a:t>Sustainability and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563B7-F46F-DCD9-7049-F6AACE1376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/>
          <a:lstStyle/>
          <a:p>
            <a:pPr lvl="0"/>
            <a:r>
              <a:rPr lang="en-US" altLang="zh-CN"/>
              <a:t>We envision a future where our solutions contribute to sustainable development. Our commitment to environmental and social responsibility is integrated into </a:t>
            </a:r>
          </a:p>
          <a:p>
            <a:pPr lvl="0"/>
            <a:r>
              <a:rPr lang="en-US" altLang="zh-CN"/>
              <a:t>our long-term strategic plans.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EDA5F-7B7A-A004-46A2-4E5142243E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/>
          <a:lstStyle/>
          <a:p>
            <a:r>
              <a:rPr lang="en-US" altLang="zh-CN"/>
              <a:t>Global Presence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A80904-1ABD-3AA9-07B2-DCFBEEE0385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/>
          <a:lstStyle/>
          <a:p>
            <a:r>
              <a:rPr lang="en-US" altLang="zh-CN"/>
              <a:t>Expanding our global footprint is a key component of our vision. We aim to serve diverse markets and leverage local insights to tailor our offerings, fostering inclusive growth.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CDB151-7166-0C7D-60DE-4D21F6A0A71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/>
          <a:lstStyle/>
          <a:p>
            <a:r>
              <a:rPr lang="en-US" altLang="zh-CN"/>
              <a:t>Future-oriented Goals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02BDF7-4AF6-F187-ABF1-23B2528ED97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/>
          <a:lstStyle/>
          <a:p>
            <a:r>
              <a:rPr lang="en-US" altLang="zh-CN"/>
              <a:t>Our vision encapsulates our aspirations to be a leader in technology innovation. We aim to set benchmarks in quality, innovation, and customer satisfaction over the next decade, driving transformation across industries.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1EE28-64A8-BD4D-D184-AC038F18C6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/>
          <a:lstStyle/>
          <a:p>
            <a:r>
              <a:rPr lang="en-US" altLang="zh-CN"/>
              <a:t>Technological Leadership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AED071-DA08-CA75-D468-010AAEB3E26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/>
          <a:lstStyle/>
          <a:p>
            <a:r>
              <a:rPr lang="en-US" altLang="zh-CN"/>
              <a:t>We strive to be at the forefront of technological advancements, pioneering new paths in the tech industry. Our focus on research and development is critical to maintaining our leadership position.</a:t>
            </a:r>
          </a:p>
        </p:txBody>
      </p:sp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E8F9D9-6D90-40C5-6832-49420648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Core </a:t>
            </a:r>
            <a:br>
              <a:rPr lang="en-US" altLang="zh-CN"/>
            </a:br>
            <a:r>
              <a:rPr lang="en-US" altLang="zh-CN"/>
              <a:t>Values</a:t>
            </a:r>
            <a:endParaRPr lang="en-C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D6538B-1A48-73D0-0FDB-71C2C58024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2864"/>
            <a:ext cx="5889827" cy="126871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Fundamental Beliefs and Principles</a:t>
            </a:r>
            <a:endParaRPr lang="en-US"/>
          </a:p>
        </p:txBody>
      </p:sp>
      <p:pic>
        <p:nvPicPr>
          <p:cNvPr id="4" name="Picture Placeholder 3" descr="Person using tablet">
            <a:extLst>
              <a:ext uri="{FF2B5EF4-FFF2-40B4-BE49-F238E27FC236}">
                <a16:creationId xmlns:a16="http://schemas.microsoft.com/office/drawing/2014/main" id="{3ED24B98-B22E-039A-78A4-894C6D3366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44"/>
            </a:stretch>
          </a:blipFill>
        </p:spPr>
      </p:pic>
      <p:pic>
        <p:nvPicPr>
          <p:cNvPr id="9" name="Picture Placeholder 8" descr="Man reading from iPad">
            <a:extLst>
              <a:ext uri="{FF2B5EF4-FFF2-40B4-BE49-F238E27FC236}">
                <a16:creationId xmlns:a16="http://schemas.microsoft.com/office/drawing/2014/main" id="{C4FB4637-57D8-FA9A-0D99-E8BDF238F1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2312" y="2833425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50717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0E21-1FBA-8F91-6CC9-74BD4C27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altLang="zh-CN" noProof="0"/>
              <a:t>Value Statement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F7094-0E53-38D8-3A56-3B8D20EA8C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/>
          <a:lstStyle/>
          <a:p>
            <a:r>
              <a:rPr lang="en-US" altLang="zh-CN"/>
              <a:t>Innovation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D82B5-5917-0591-91AC-CAC0617C5B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/>
          <a:lstStyle/>
          <a:p>
            <a:r>
              <a:rPr lang="en-US" altLang="zh-CN"/>
              <a:t>We prioritize innovation in every aspect of our operations, continuously seeking new ways to enhance our products and services.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AF8F0-DA24-94FD-74CB-F0A88463579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/>
          <a:lstStyle/>
          <a:p>
            <a:r>
              <a:rPr lang="en-US" altLang="zh-CN"/>
              <a:t>Sustainability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10E8ED-C15F-1A5D-EE4B-B6AB67F6019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/>
          <a:lstStyle/>
          <a:p>
            <a:r>
              <a:rPr lang="en-US" altLang="zh-CN"/>
              <a:t>We strive to minimize our environmental impact and promote sustainable practices, aligning our operations with global efforts to combat climate change.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E3074-C8A4-64ED-A64C-7B647A525A8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/>
          <a:lstStyle/>
          <a:p>
            <a:r>
              <a:rPr lang="en-US" altLang="zh-CN"/>
              <a:t>Integrity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0E1D1E-6681-7AF1-109C-0FCF158F2F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/>
          <a:lstStyle/>
          <a:p>
            <a:r>
              <a:rPr lang="en-US" altLang="zh-CN"/>
              <a:t>We uphold the highest ethical standards, ensuring transparency and accountability in our interactions with stakeholders and the communities we serve.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AA871C-7A5D-D97E-37EC-87D4669E3C8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/>
          <a:lstStyle/>
          <a:p>
            <a:r>
              <a:rPr lang="en-US" altLang="zh-CN"/>
              <a:t>Customer Focus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14405D-1D80-18E7-008C-B60F5389C38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/>
          <a:lstStyle/>
          <a:p>
            <a:r>
              <a:rPr lang="en-US" altLang="zh-CN"/>
              <a:t>Our customer-centric approach ensures that we deliver exceptional value and build long-term relationships based on trust and mutual respect.</a:t>
            </a:r>
          </a:p>
        </p:txBody>
      </p:sp>
      <p:pic>
        <p:nvPicPr>
          <p:cNvPr id="13" name="Picture Placeholder 12" descr="A close-up of several hands holding each other.">
            <a:extLst>
              <a:ext uri="{FF2B5EF4-FFF2-40B4-BE49-F238E27FC236}">
                <a16:creationId xmlns:a16="http://schemas.microsoft.com/office/drawing/2014/main" id="{4293DD6F-98F0-9320-E3CF-FA7ADCCA5E3F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" b="7"/>
          <a:stretch/>
        </p:blipFill>
        <p:spPr>
          <a:xfrm>
            <a:off x="8093484" y="2457906"/>
            <a:ext cx="3171870" cy="3713149"/>
          </a:xfrm>
        </p:spPr>
      </p:pic>
    </p:spTree>
    <p:extLst>
      <p:ext uri="{BB962C8B-B14F-4D97-AF65-F5344CB8AC3E}">
        <p14:creationId xmlns:p14="http://schemas.microsoft.com/office/powerpoint/2010/main" val="141106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EB4036-D65C-7971-663C-7C1FD90D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/>
          <a:lstStyle/>
          <a:p>
            <a:r>
              <a:rPr lang="en-US"/>
              <a:t>Cultural Integration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6273B-F8DF-C22E-9661-614DFF4B28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anchor="ctr"/>
          <a:lstStyle/>
          <a:p>
            <a:r>
              <a:rPr lang="en-US" altLang="zh-CN"/>
              <a:t>Integrating our core values into the company culture is a strategic priority. By embedding these values into our policies, procedures, and daily activities, we create a cohesive environment that encourages employee engagement and alignment with our strategic goals.</a:t>
            </a:r>
          </a:p>
        </p:txBody>
      </p:sp>
    </p:spTree>
    <p:extLst>
      <p:ext uri="{BB962C8B-B14F-4D97-AF65-F5344CB8AC3E}">
        <p14:creationId xmlns:p14="http://schemas.microsoft.com/office/powerpoint/2010/main" val="416022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64F2A9-06E1-8444-9E11-49A4C089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Business Model</a:t>
            </a:r>
            <a:endParaRPr lang="en-C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94A7FE-0AB4-2397-ED6E-B106393A2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Revenue-generating Tactics and Operational Strategy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78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4701-4AEA-34DF-6A37-F3316FA2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Comprehensive Revenue Streams</a:t>
            </a:r>
          </a:p>
        </p:txBody>
      </p:sp>
      <p:pic>
        <p:nvPicPr>
          <p:cNvPr id="16" name="Picture Placeholder 15" descr="Smiling man in a suit">
            <a:extLst>
              <a:ext uri="{FF2B5EF4-FFF2-40B4-BE49-F238E27FC236}">
                <a16:creationId xmlns:a16="http://schemas.microsoft.com/office/drawing/2014/main" id="{FF9A389C-BAE5-66EF-814E-1D8ED2E726B8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2334" y="2092306"/>
            <a:ext cx="1446212" cy="144621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B96D5-FC7D-3849-7C6E-0884A6BB7E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US" altLang="zh-CN"/>
              <a:t>Product </a:t>
            </a:r>
            <a:endParaRPr lang="zh-CN" altLang="en-US"/>
          </a:p>
          <a:p>
            <a:r>
              <a:rPr lang="en-US" altLang="zh-CN"/>
              <a:t>Sales</a:t>
            </a:r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877C9B-B17E-D533-5AC1-49FB2FC1A6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/>
              <a:t>Our primary revenue stream is generated from the direct sales of our innovative products.</a:t>
            </a:r>
          </a:p>
        </p:txBody>
      </p:sp>
      <p:pic>
        <p:nvPicPr>
          <p:cNvPr id="18" name="Picture Placeholder 17" descr="Smiling woman in office">
            <a:extLst>
              <a:ext uri="{FF2B5EF4-FFF2-40B4-BE49-F238E27FC236}">
                <a16:creationId xmlns:a16="http://schemas.microsoft.com/office/drawing/2014/main" id="{5BB268CA-B65C-A470-4A76-9275835E2D76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7396" y="2092306"/>
            <a:ext cx="1446212" cy="14462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95F9E9-39A5-5D12-88A5-2EE235CED35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US" altLang="zh-CN"/>
              <a:t>Subscription </a:t>
            </a:r>
            <a:endParaRPr lang="zh-CN" altLang="en-US"/>
          </a:p>
          <a:p>
            <a:r>
              <a:rPr lang="en-US" altLang="zh-CN"/>
              <a:t>Services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E67371-7DD3-C1C9-8A41-0B26934ABD6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/>
              <a:t>We offer subscription-based services, providing customers with access to our latest updates and features.</a:t>
            </a:r>
          </a:p>
        </p:txBody>
      </p:sp>
      <p:pic>
        <p:nvPicPr>
          <p:cNvPr id="20" name="Picture Placeholder 19" descr="A person in a suit and tie is similing.">
            <a:extLst>
              <a:ext uri="{FF2B5EF4-FFF2-40B4-BE49-F238E27FC236}">
                <a16:creationId xmlns:a16="http://schemas.microsoft.com/office/drawing/2014/main" id="{663AF522-CF2E-95B5-C9ED-9DF309BEB32A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3080" y="2092306"/>
            <a:ext cx="1446212" cy="1446213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5721AB-086E-5148-3808-E9B14202733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US" altLang="zh-CN"/>
              <a:t>Consulting and </a:t>
            </a:r>
            <a:endParaRPr lang="zh-CN" altLang="en-US"/>
          </a:p>
          <a:p>
            <a:r>
              <a:rPr lang="en-US" altLang="zh-CN"/>
              <a:t>Support</a:t>
            </a:r>
            <a:endParaRPr lang="zh-CN" alt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0EEE3E-CCCA-AC5A-02B5-7D3030BBDA5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/>
              <a:t>Offering consulting services generates additional income while strengthening client relationships.</a:t>
            </a:r>
          </a:p>
        </p:txBody>
      </p:sp>
      <p:pic>
        <p:nvPicPr>
          <p:cNvPr id="22" name="Picture Placeholder 21" descr="Smiling woman in office">
            <a:extLst>
              <a:ext uri="{FF2B5EF4-FFF2-40B4-BE49-F238E27FC236}">
                <a16:creationId xmlns:a16="http://schemas.microsoft.com/office/drawing/2014/main" id="{7AB901A3-2755-3672-37BF-EBD003CE8445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28764" y="2092306"/>
            <a:ext cx="1446212" cy="1446213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00E7FB3-F0D7-6763-58B0-EAFB73B39EE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US" altLang="zh-CN"/>
              <a:t>Partnerships and Licensing</a:t>
            </a:r>
            <a:endParaRPr lang="zh-CN" alt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E1E269-6A1C-5587-C4C3-751ABB0F60F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en-US"/>
              <a:t>Strategic partnerships and licensing agreements enable us to expand our market reach.</a:t>
            </a:r>
          </a:p>
        </p:txBody>
      </p:sp>
    </p:spTree>
    <p:extLst>
      <p:ext uri="{BB962C8B-B14F-4D97-AF65-F5344CB8AC3E}">
        <p14:creationId xmlns:p14="http://schemas.microsoft.com/office/powerpoint/2010/main" val="2401849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AB89-C4DD-6520-90D1-771E2960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altLang="zh-CN" noProof="0"/>
              <a:t>Operational Strategy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2AFE2-DF4C-B355-CA06-68F460D4B1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/>
          <a:lstStyle/>
          <a:p>
            <a:r>
              <a:rPr lang="en-US" altLang="zh-CN"/>
              <a:t>Efficiency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6737D-2DAF-4010-731C-07EAEA40BFC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/>
          <a:lstStyle/>
          <a:p>
            <a:r>
              <a:rPr lang="en-US"/>
              <a:t>We leverage advanced data analytics and AI to optimize our processes, reduce costs, and enhance decision-making. By embracing digital transformation, we streamline operations and improve customer engagement.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20992-D83F-84B1-0346-EC905CBCE27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/>
          <a:lstStyle/>
          <a:p>
            <a:r>
              <a:rPr lang="en-US" altLang="zh-CN"/>
              <a:t>Sustainability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FD80BA-324C-F0E5-7C77-90E9F94DD5A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/>
          <a:lstStyle/>
          <a:p>
            <a:r>
              <a:rPr lang="en-US"/>
              <a:t>We are committed to sustainable practices, integrating eco-friendly initiatives into our operations to minimize environmental impact.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4D3C98-B76D-BB42-68F5-BE31AE07736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/>
          <a:lstStyle/>
          <a:p>
            <a:r>
              <a:rPr lang="en-US" altLang="zh-CN"/>
              <a:t>Innovation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19686A-5C8C-EEB2-51C8-38F44819FB0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/>
          <a:lstStyle/>
          <a:p>
            <a:r>
              <a:rPr lang="en-US"/>
              <a:t>Strategic partnerships further enhance our operational capabilities, allowing us to access new technologies and markets.</a:t>
            </a:r>
          </a:p>
        </p:txBody>
      </p:sp>
      <p:pic>
        <p:nvPicPr>
          <p:cNvPr id="11" name="Picture Placeholder 10" descr="Hands typing on a laptop keyboard.">
            <a:extLst>
              <a:ext uri="{FF2B5EF4-FFF2-40B4-BE49-F238E27FC236}">
                <a16:creationId xmlns:a16="http://schemas.microsoft.com/office/drawing/2014/main" id="{68C42769-C8E8-C5F6-618E-16AB4EF09DDA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6855393" y="4443647"/>
            <a:ext cx="3930649" cy="1778549"/>
          </a:xfrm>
        </p:spPr>
      </p:pic>
    </p:spTree>
    <p:extLst>
      <p:ext uri="{BB962C8B-B14F-4D97-AF65-F5344CB8AC3E}">
        <p14:creationId xmlns:p14="http://schemas.microsoft.com/office/powerpoint/2010/main" val="3704865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D22F88-EFF6-01D4-FE48-96AEFFC3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Market </a:t>
            </a:r>
            <a:br>
              <a:rPr lang="en-US" altLang="zh-CN"/>
            </a:br>
            <a:r>
              <a:rPr lang="en-US" altLang="zh-CN"/>
              <a:t>Position</a:t>
            </a:r>
            <a:endParaRPr lang="en-C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DBE091-B2F9-29C7-FC67-6D2FDAEABA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3025"/>
            <a:ext cx="5889625" cy="126841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Industry Standing of the Company</a:t>
            </a:r>
          </a:p>
        </p:txBody>
      </p:sp>
      <p:pic>
        <p:nvPicPr>
          <p:cNvPr id="4" name="Picture Placeholder 3" descr="Colleagues looking at computer">
            <a:extLst>
              <a:ext uri="{FF2B5EF4-FFF2-40B4-BE49-F238E27FC236}">
                <a16:creationId xmlns:a16="http://schemas.microsoft.com/office/drawing/2014/main" id="{467EC97D-A912-87D4-57CD-0DADC4D164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blipFill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9" name="Picture Placeholder 8" descr="Office worker in video conference">
            <a:extLst>
              <a:ext uri="{FF2B5EF4-FFF2-40B4-BE49-F238E27FC236}">
                <a16:creationId xmlns:a16="http://schemas.microsoft.com/office/drawing/2014/main" id="{D11D793F-B0C5-FF4C-2B7B-316ED3EA83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9052312" y="2833425"/>
            <a:ext cx="3139688" cy="3872174"/>
          </a:xfrm>
          <a:blipFill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58124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D419-1A74-AE0E-64A5-316F481B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anchor="ctr"/>
          <a:lstStyle/>
          <a:p>
            <a:r>
              <a:rPr lang="en-US" altLang="zh-CN" noProof="0"/>
              <a:t>Industry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764F-2B75-3A58-78E6-3149017D846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/>
          <a:lstStyle/>
          <a:p>
            <a:r>
              <a:rPr lang="en-US"/>
              <a:t>The current industry landscape is characterized by rapid technological advancements and increasing competition. Key trends such as the integration of artificial intelligence and machine learning, digital transformation, and a growing emphasis on sustainability are reshaping market dynamics. Companies are leveraging these technologies to enhance operational efficiency and offer personalized customer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222398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5623-5B11-665C-616F-07BF9310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n-cs"/>
              </a:rPr>
              <a:t>Competitive Edge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43A06-8AD1-8A21-D111-508A2884C0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zh-CN" sz="1800" b="0" i="0">
                <a:effectLst/>
                <a:latin typeface="+mj-lt"/>
                <a:ea typeface="+mj-ea"/>
              </a:rPr>
              <a:t>Innovative Solutions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4E027-9155-F9A2-EF8E-9F89F0A5B1B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 sz="1400" b="0" i="0">
                <a:effectLst/>
              </a:rPr>
              <a:t>We invest heavily in R&amp;D to develop cutting-edge products and services that meet evolving customer needs.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F9815-246D-96B3-FA66-240368BF27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zh-CN" sz="1800" b="0" i="0">
                <a:effectLst/>
                <a:latin typeface="+mj-lt"/>
                <a:ea typeface="+mj-ea"/>
              </a:rPr>
              <a:t>Strategic Partnerships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828D53-81B2-CBF3-75BC-2F8A715993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altLang="zh-CN" sz="1400">
                <a:effectLst/>
              </a:rPr>
              <a:t>Collaborations with key industry players enhance our market reach and technological capabilities.</a:t>
            </a:r>
            <a:endParaRPr lang="en-US" sz="14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132604-F293-9A52-4897-6CE1E5AFA85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zh-CN" sz="1800" b="0" i="0">
                <a:effectLst/>
                <a:latin typeface="+mj-lt"/>
                <a:ea typeface="+mj-ea"/>
              </a:rPr>
              <a:t>Focus on Customer Needs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B94C39-EAF2-3197-86FD-8B043E3E4C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altLang="zh-CN" sz="1400" b="0" i="0">
                <a:effectLst/>
              </a:rPr>
              <a:t>By prioritizing customer satisfaction and engagement, we create long-lasting relationships and build trust.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40111F-5B0B-D75A-4E47-246B910EEE6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altLang="zh-CN" sz="1800" b="0" i="0">
                <a:effectLst/>
                <a:latin typeface="+mj-lt"/>
                <a:ea typeface="+mj-ea"/>
              </a:rPr>
              <a:t>Sustainability Initiatives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7E152E-633B-1ACA-D6FC-6BC0BB0F6BA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altLang="zh-CN" sz="1400" b="0" i="0">
                <a:effectLst/>
              </a:rPr>
              <a:t>Our dedication to sustainable practices resonates with environmentally conscious consumers.</a:t>
            </a:r>
            <a:endParaRPr lang="en-US" altLang="zh-CN" sz="1400"/>
          </a:p>
        </p:txBody>
      </p:sp>
      <p:pic>
        <p:nvPicPr>
          <p:cNvPr id="13" name="Picture Placeholder 12" descr="A person is sitting on an airplane seat, holding a smartphone.">
            <a:extLst>
              <a:ext uri="{FF2B5EF4-FFF2-40B4-BE49-F238E27FC236}">
                <a16:creationId xmlns:a16="http://schemas.microsoft.com/office/drawing/2014/main" id="{0C2D3A9E-71C8-1D55-6506-2C6EA15DB30B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3484" y="2457906"/>
            <a:ext cx="3171870" cy="3713149"/>
          </a:xfrm>
        </p:spPr>
      </p:pic>
    </p:spTree>
    <p:extLst>
      <p:ext uri="{BB962C8B-B14F-4D97-AF65-F5344CB8AC3E}">
        <p14:creationId xmlns:p14="http://schemas.microsoft.com/office/powerpoint/2010/main" val="206999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descr="two business partner holding hands.">
            <a:extLst>
              <a:ext uri="{FF2B5EF4-FFF2-40B4-BE49-F238E27FC236}">
                <a16:creationId xmlns:a16="http://schemas.microsoft.com/office/drawing/2014/main" id="{A837A44D-98F0-890D-B689-C64A727AC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Governance and CSR</a:t>
            </a:r>
            <a:endParaRPr lang="en-CN"/>
          </a:p>
        </p:txBody>
      </p:sp>
      <p:sp>
        <p:nvSpPr>
          <p:cNvPr id="2" name="Text Placeholder 1" descr="two business partner holding hands.">
            <a:extLst>
              <a:ext uri="{FF2B5EF4-FFF2-40B4-BE49-F238E27FC236}">
                <a16:creationId xmlns:a16="http://schemas.microsoft.com/office/drawing/2014/main" id="{AAB31522-DFE5-93FC-1AD3-FD4E655ED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Company's Governance Structure and CSR Initiatives</a:t>
            </a:r>
          </a:p>
        </p:txBody>
      </p:sp>
    </p:spTree>
    <p:extLst>
      <p:ext uri="{BB962C8B-B14F-4D97-AF65-F5344CB8AC3E}">
        <p14:creationId xmlns:p14="http://schemas.microsoft.com/office/powerpoint/2010/main" val="2703607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470B-0100-5A69-04CD-965B0755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Corporate Governance</a:t>
            </a:r>
          </a:p>
        </p:txBody>
      </p:sp>
      <p:pic>
        <p:nvPicPr>
          <p:cNvPr id="16" name="Picture Placeholder 15" descr="Two women working">
            <a:extLst>
              <a:ext uri="{FF2B5EF4-FFF2-40B4-BE49-F238E27FC236}">
                <a16:creationId xmlns:a16="http://schemas.microsoft.com/office/drawing/2014/main" id="{8611A117-7BB7-5BCA-59DA-22253FD40EDA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2334" y="2092306"/>
            <a:ext cx="1446212" cy="144621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ECDDB4-0C52-B1EB-D67C-2B29EAAFEEB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US" altLang="zh-CN"/>
              <a:t>Board Diversity</a:t>
            </a:r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B3675B-B276-B2F7-0F0B-42CDA7FE72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 altLang="zh-CN"/>
              <a:t>Diverse boards bring varied perspectives, enhancing decision-making and strategic oversight.</a:t>
            </a:r>
          </a:p>
        </p:txBody>
      </p:sp>
      <p:pic>
        <p:nvPicPr>
          <p:cNvPr id="18" name="Picture Placeholder 17" descr="Hand holding a pen over an open book">
            <a:extLst>
              <a:ext uri="{FF2B5EF4-FFF2-40B4-BE49-F238E27FC236}">
                <a16:creationId xmlns:a16="http://schemas.microsoft.com/office/drawing/2014/main" id="{922F3D26-1901-BC5F-35DB-CC87882B88A2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7396" y="2092306"/>
            <a:ext cx="1446212" cy="14462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9C0481-89A4-CBFB-A523-2EF4A974BD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US" altLang="zh-CN"/>
              <a:t>Ethical Framework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0DBF91-5E2A-CDE6-4DCD-8E96E425E93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 altLang="zh-CN"/>
              <a:t>We have established robust ethical guidelines that inform our governance practices.</a:t>
            </a:r>
          </a:p>
        </p:txBody>
      </p:sp>
      <p:pic>
        <p:nvPicPr>
          <p:cNvPr id="20" name="Picture Placeholder 19" descr="Hands holding soil with a small green plant.">
            <a:extLst>
              <a:ext uri="{FF2B5EF4-FFF2-40B4-BE49-F238E27FC236}">
                <a16:creationId xmlns:a16="http://schemas.microsoft.com/office/drawing/2014/main" id="{42CE3F3C-D850-41FB-B043-825A86698A31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3080" y="2092306"/>
            <a:ext cx="1446212" cy="1446213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CBD68E-8EB1-715E-F65F-190E93225B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US" altLang="zh-CN"/>
              <a:t>Sustainability Integration</a:t>
            </a:r>
            <a:endParaRPr lang="zh-CN" alt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AF7602-F406-E96C-D09A-B805EF31CF8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 altLang="zh-CN"/>
              <a:t>Sustainability is woven into our governance framework, supporting transparency and accountability.</a:t>
            </a:r>
            <a:endParaRPr lang="zh-CN" altLang="en-US"/>
          </a:p>
        </p:txBody>
      </p:sp>
      <p:pic>
        <p:nvPicPr>
          <p:cNvPr id="22" name="Picture Placeholder 21" descr="Man and woman at table with laptop">
            <a:extLst>
              <a:ext uri="{FF2B5EF4-FFF2-40B4-BE49-F238E27FC236}">
                <a16:creationId xmlns:a16="http://schemas.microsoft.com/office/drawing/2014/main" id="{96AC577D-E8FB-1BB2-D150-786AD92F9B0E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28764" y="2092306"/>
            <a:ext cx="1446212" cy="1446213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F58A54-45E7-8041-DB32-AA613BC3E99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US" altLang="zh-CN"/>
              <a:t>Technology </a:t>
            </a:r>
          </a:p>
          <a:p>
            <a:r>
              <a:rPr lang="en-US" altLang="zh-CN"/>
              <a:t>Utilization</a:t>
            </a:r>
            <a:endParaRPr lang="zh-CN" alt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055E74E-B106-7FD9-450F-41ED14D2406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en-US" altLang="zh-CN"/>
              <a:t>We leverage technologies such as AI and blockchain to enhance transparency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1770424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9E7463-3198-EE88-DE52-BAC2B766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/>
          <a:lstStyle/>
          <a:p>
            <a:r>
              <a:rPr lang="en-US"/>
              <a:t>CSR Initiatives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99338-95E2-64DA-CEF9-63BAD7A13C1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/>
          <a:lstStyle/>
          <a:p>
            <a:r>
              <a:rPr lang="en-US" altLang="zh-CN"/>
              <a:t>Our commitment to corporate social responsibility (CSR) is reflected in a range of initiatives that address environmental, social, and economic challenges, align our CSR goals with community needs and global sustainability standards.</a:t>
            </a:r>
          </a:p>
        </p:txBody>
      </p:sp>
      <p:pic>
        <p:nvPicPr>
          <p:cNvPr id="11" name="Picture Placeholder 10" descr="Two people engaged in conversation, one using a wheelchair.">
            <a:extLst>
              <a:ext uri="{FF2B5EF4-FFF2-40B4-BE49-F238E27FC236}">
                <a16:creationId xmlns:a16="http://schemas.microsoft.com/office/drawing/2014/main" id="{2C090841-DD22-F62B-EDCE-565E3DF7B9C4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" r="41"/>
          <a:stretch/>
        </p:blipFill>
        <p:spPr>
          <a:xfrm>
            <a:off x="7300452" y="831918"/>
            <a:ext cx="4006875" cy="5194161"/>
          </a:xfrm>
        </p:spPr>
      </p:pic>
    </p:spTree>
    <p:extLst>
      <p:ext uri="{BB962C8B-B14F-4D97-AF65-F5344CB8AC3E}">
        <p14:creationId xmlns:p14="http://schemas.microsoft.com/office/powerpoint/2010/main" val="1128169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B7BD93-A683-8329-EE7A-30862571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altLang="zh-CN"/>
              <a:t>Future Goals</a:t>
            </a:r>
            <a:endParaRPr lang="en-C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D16F86-6C7C-399D-C4D1-699E2EDC11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225" y="5152864"/>
            <a:ext cx="5889827" cy="126871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/>
              <a:t>Short-term Goals &amp; Long-term Vision</a:t>
            </a:r>
          </a:p>
        </p:txBody>
      </p:sp>
      <p:pic>
        <p:nvPicPr>
          <p:cNvPr id="4" name="Picture Placeholder 3" descr="Person stepping in stairs">
            <a:extLst>
              <a:ext uri="{FF2B5EF4-FFF2-40B4-BE49-F238E27FC236}">
                <a16:creationId xmlns:a16="http://schemas.microsoft.com/office/drawing/2014/main" id="{6D573313-22C7-2B0C-5939-5BCB47E62D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6883862" y="669510"/>
            <a:ext cx="3902491" cy="3902491"/>
          </a:xfrm>
          <a:blipFill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9" name="Picture Placeholder 8" descr="Person in the conference room">
            <a:extLst>
              <a:ext uri="{FF2B5EF4-FFF2-40B4-BE49-F238E27FC236}">
                <a16:creationId xmlns:a16="http://schemas.microsoft.com/office/drawing/2014/main" id="{2F77B77C-17EF-1F1F-607C-DF116160F2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9052312" y="2833425"/>
            <a:ext cx="3139688" cy="3872174"/>
          </a:xfrm>
          <a:blipFill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68918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FCDD-F8AF-2581-733B-9BBCF17617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Short-term Objectives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29B037D-CB4B-8291-9EA3-365DD04737F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EABA-0DCE-4B81-B9F7-4781C81958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en-US" altLang="zh-CN"/>
              <a:t>Market Expansion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10CDA-9672-5A56-DF3B-01613825BE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en-US" altLang="zh-CN"/>
              <a:t>Target entering two new international markets within the next 12 months.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72E724-44B2-C2C7-8089-3022B37DD39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BE2CE-45DF-4825-1BED-9BD012FAB24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en-US" altLang="zh-CN"/>
              <a:t>Technological Advancement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DB403A-8211-5863-05CC-BCECB02576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en-US" altLang="zh-CN"/>
              <a:t>Focus on integrating AI and ML to enhance operational efficiency and product offerings.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23E4B3-874C-5E65-A9D6-58E93EC97F8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7320B1-F51B-12F4-9F3A-39300376639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en-US" altLang="zh-CN"/>
              <a:t>Sustainability Initiatives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EBE0E1-673B-CCFE-0CCB-D6914F86C55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en-US" altLang="zh-CN"/>
              <a:t>Implement comprehensive sustainability practices across all operations.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B1A7610-8FEA-31DA-3DBC-B9A1BDE921F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/>
          <a:lstStyle/>
          <a:p>
            <a:r>
              <a:rPr lang="en-US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CE834F-6F71-52FE-7AAC-291620117EA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/>
          <a:lstStyle/>
          <a:p>
            <a:r>
              <a:rPr lang="en-US" altLang="zh-CN"/>
              <a:t>Innovation Culture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715309-A3C6-BDCC-65A3-9941C69627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en-US" altLang="zh-CN"/>
              <a:t>Cultivate a culture of innovation to support rapid development of new ideas.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99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15DBC-5D74-7158-E1CC-6D8A61C1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/>
          <a:p>
            <a:r>
              <a:rPr lang="en-US"/>
              <a:t>Long-term Vision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468BE-E9D1-11B5-98A6-AC6AC963C5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anchor="ctr">
            <a:normAutofit/>
          </a:bodyPr>
          <a:lstStyle/>
          <a:p>
            <a:r>
              <a:rPr lang="en-US" altLang="zh-CN"/>
              <a:t>Our long-term vision is to lead the industry through continuous innovation and exceptional value delivery. We aim to expand our impact by developing cutting-edge solutions for emerging challenges. By fostering a culture of excellence and collaboration, we strive for sustainable growth and success. Our commitment to meeting clients' evolving needs and staying ahead of trends drives our strategic planning and forward-thinking approach.</a:t>
            </a:r>
          </a:p>
        </p:txBody>
      </p:sp>
    </p:spTree>
    <p:extLst>
      <p:ext uri="{BB962C8B-B14F-4D97-AF65-F5344CB8AC3E}">
        <p14:creationId xmlns:p14="http://schemas.microsoft.com/office/powerpoint/2010/main" val="1200752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476" y="1153634"/>
            <a:ext cx="5184248" cy="4550732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6256866" cy="6858000"/>
          </a:xfrm>
        </p:spPr>
      </p:pic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3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Widescreen</PresentationFormat>
  <Paragraphs>129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Custom</vt:lpstr>
      <vt:lpstr>Company Overview</vt:lpstr>
      <vt:lpstr>Agenda</vt:lpstr>
      <vt:lpstr>Company History</vt:lpstr>
      <vt:lpstr>Foundation</vt:lpstr>
      <vt:lpstr>Milestones</vt:lpstr>
      <vt:lpstr>Company Growth</vt:lpstr>
      <vt:lpstr>Mission  and Vision</vt:lpstr>
      <vt:lpstr>Mission Statement</vt:lpstr>
      <vt:lpstr>Vision Statement</vt:lpstr>
      <vt:lpstr>Core  Values</vt:lpstr>
      <vt:lpstr>Value Statement</vt:lpstr>
      <vt:lpstr>Cultural Integration</vt:lpstr>
      <vt:lpstr>Business Model</vt:lpstr>
      <vt:lpstr>Comprehensive Revenue Streams</vt:lpstr>
      <vt:lpstr>Operational Strategy</vt:lpstr>
      <vt:lpstr>Market  Position</vt:lpstr>
      <vt:lpstr>Industry Overview</vt:lpstr>
      <vt:lpstr>Competitive Edge</vt:lpstr>
      <vt:lpstr>Governance and CSR</vt:lpstr>
      <vt:lpstr>Corporate Governance</vt:lpstr>
      <vt:lpstr>CSR Initiatives</vt:lpstr>
      <vt:lpstr>Future Goals</vt:lpstr>
      <vt:lpstr>Short-term Objectives</vt:lpstr>
      <vt:lpstr>Long-term Vision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2026-07-16T06:14:30Z</dcterms:created>
  <dcterms:modified xsi:type="dcterms:W3CDTF">2026-07-16T06:14:33Z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